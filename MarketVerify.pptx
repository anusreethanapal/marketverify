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c95e4a-bda7-6da6-5a35-2cc2a283fe23}">
          <p14:sldIdLst>
            <p14:sldId id="256"/>
          </p14:sldIdLst>
        </p14:section>
        <p14:section name="Context" id="{d8dc5401-4255-1745-95b6-5f9624dc9781}">
          <p14:sldIdLst>
            <p14:sldId id="257"/>
          </p14:sldIdLst>
        </p14:section>
        <p14:section name="Design" id="{26be5c56-2dea-6e18-b86f-0f85b4a15b78}">
          <p14:sldIdLst>
            <p14:sldId id="258"/>
            <p14:sldId id="259"/>
            <p14:sldId id="260"/>
          </p14:sldIdLst>
        </p14:section>
        <p14:section name="Outcomes" id="{45a3833f-8386-162a-6378-f28a9b928b2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MarketVerify: an institutional platform that verifies unverified Indian market rumours (English and Tamil) against official SEBI/BSE filings using a 5-agent LangGraph pipeline. Headline numbers: 5 agents, 3 vector stores, 2 languages, 30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rumours circulate on Telegram, WhatsApp and regional media and move prices 3-7% before formal clarifications. Existing tools only measure polarity. MarketVerify checks whether the claim is true against official filings, scores the source, retries when evidence is weak, and supports Tamil.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React workstation, FastAPI with JWT and role-based access, LangGraph orchestration of the five agents, and the data layer (three Qdrant collections, relational store, Redis for live trace streaming). Redis falls back gracefully to DB polling when not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run in order: Normalizer -&gt; Trust-Tier -&gt; Verification -&gt; Sentiment -&gt; Aggregator. Outputs: Normalizer gives text, ticker, language; Trust-Tier gives trust score, rationale, confidence; Verification gives status, citations, similarity, loop-back count; Sentiment gives POSITIVE/NEGATIVE/NEUTRAL and a lead-lag note; Aggregator gives one of six verdicts with confidence and explanation. Loop 1 is a routing node after Trust-Tier; Loop 2 is a conditional edge back to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models: the current build uses a custom deterministic embedding (hash projection, 384 dimensions) so retrieval is repeatable offline and in tests; reasoning is rule-based and Bayesian, not LLM-generated, which keeps verdicts auditable. OpenAI gpt-4o-mini and text-embedding-3-small are already declared in configuration as the planned drop-in upgrade. The three Qdrant collections hold 22 trust records, 18 filings and 15 sentiment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summarising: MarketVerify turns unverified rumours into cited, auditable verdicts. 30 automated tests pass; roadmap includes live exchange feeds, LLM and production embeddings, scanned-PDF parsing, automated Reg 30 rebuttal drafts and distributed workers.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960120"/>
            <a:ext cx="5029200" cy="868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548640" y="1874520"/>
            <a:ext cx="4754880" cy="91440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960120"/>
            <a:ext cx="5029200" cy="868680"/>
          </a:xfrm>
          <a:prstGeom prst="rect">
            <a:avLst/>
          </a:prstGeom>
          <a:noFill/>
          <a:ln/>
        </p:spPr>
        <p:txBody>
          <a:bodyPr wrap="square" lIns="0" tIns="0" rIns="0" bIns="0" rtlCol="0" anchor="ctr"/>
          <a:lstStyle/>
          <a:p>
            <a:pPr algn="l" indent="0" marL="0">
              <a:buNone/>
            </a:pPr>
            <a:r>
              <a:rPr lang="en-US" sz="4800" b="1" dirty="0">
                <a:solidFill>
                  <a:schemeClr val="bg1"/>
                </a:solidFill>
              </a:rPr>
              <a:t>MarketVerify</a:t>
            </a:r>
            <a:endParaRPr lang="en-US" sz="4800" dirty="0"/>
          </a:p>
        </p:txBody>
      </p:sp>
      <p:sp>
        <p:nvSpPr>
          <p:cNvPr id="3" name="Text 1"/>
          <p:cNvSpPr/>
          <p:nvPr>
            <p:ph idx="102" type="body" hasCustomPrompt="1"/>
          </p:nvPr>
        </p:nvSpPr>
        <p:spPr>
          <a:xfrm>
            <a:off x="548640" y="1874520"/>
            <a:ext cx="4754880" cy="914400"/>
          </a:xfrm>
          <a:prstGeom prst="rect">
            <a:avLst/>
          </a:prstGeom>
          <a:noFill/>
          <a:ln/>
        </p:spPr>
        <p:txBody>
          <a:bodyPr wrap="square" lIns="0" tIns="0" rIns="0" bIns="0" rtlCol="0" anchor="t"/>
          <a:lstStyle/>
          <a:p>
            <a:pPr indent="0" marL="0">
              <a:buNone/>
            </a:pPr>
            <a:r>
              <a:rPr lang="en-US" sz="1800" dirty="0">
                <a:solidFill>
                  <a:schemeClr val="bg1"/>
                </a:solidFill>
              </a:rPr>
              <a:t>Multi-agent, retrieval-grounded verification of Indian stock-market rumours</a:t>
            </a:r>
            <a:endParaRPr lang="en-US" sz="1800" dirty="0"/>
          </a:p>
        </p:txBody>
      </p:sp>
      <p:sp>
        <p:nvSpPr>
          <p:cNvPr id="4" name="Tech chip LangGraph"/>
          <p:cNvSpPr/>
          <p:nvPr/>
        </p:nvSpPr>
        <p:spPr>
          <a:xfrm>
            <a:off x="548640" y="3017520"/>
            <a:ext cx="1051560" cy="329184"/>
          </a:xfrm>
          <a:prstGeom prst="roundRect">
            <a:avLst>
              <a:gd name="adj" fmla="val 50000"/>
            </a:avLst>
          </a:prstGeom>
          <a:solidFill>
            <a:schemeClr val="accent3"/>
          </a:solidFill>
          <a:ln/>
        </p:spPr>
      </p:sp>
      <p:sp>
        <p:nvSpPr>
          <p:cNvPr id="5" name="Text 3"/>
          <p:cNvSpPr txBox="1"/>
          <p:nvPr/>
        </p:nvSpPr>
        <p:spPr>
          <a:xfrm>
            <a:off x="548640" y="3017520"/>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rPr>
              <a:t>LangGraph</a:t>
            </a:r>
            <a:endParaRPr lang="en-US" sz="1200" dirty="0"/>
          </a:p>
        </p:txBody>
      </p:sp>
      <p:sp>
        <p:nvSpPr>
          <p:cNvPr id="6" name="Tech chip FastAPI"/>
          <p:cNvSpPr/>
          <p:nvPr/>
        </p:nvSpPr>
        <p:spPr>
          <a:xfrm>
            <a:off x="1737360" y="3017520"/>
            <a:ext cx="1051560" cy="329184"/>
          </a:xfrm>
          <a:prstGeom prst="roundRect">
            <a:avLst>
              <a:gd name="adj" fmla="val 50000"/>
            </a:avLst>
          </a:prstGeom>
          <a:solidFill>
            <a:schemeClr val="accent3"/>
          </a:solidFill>
          <a:ln/>
        </p:spPr>
      </p:sp>
      <p:sp>
        <p:nvSpPr>
          <p:cNvPr id="7" name="Text 5"/>
          <p:cNvSpPr txBox="1"/>
          <p:nvPr/>
        </p:nvSpPr>
        <p:spPr>
          <a:xfrm>
            <a:off x="1737360" y="3017520"/>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rPr>
              <a:t>FastAPI</a:t>
            </a:r>
            <a:endParaRPr lang="en-US" sz="1200" dirty="0"/>
          </a:p>
        </p:txBody>
      </p:sp>
      <p:sp>
        <p:nvSpPr>
          <p:cNvPr id="8" name="Tech chip Qdrant"/>
          <p:cNvSpPr/>
          <p:nvPr/>
        </p:nvSpPr>
        <p:spPr>
          <a:xfrm>
            <a:off x="2926080" y="3017520"/>
            <a:ext cx="1051560" cy="329184"/>
          </a:xfrm>
          <a:prstGeom prst="roundRect">
            <a:avLst>
              <a:gd name="adj" fmla="val 50000"/>
            </a:avLst>
          </a:prstGeom>
          <a:solidFill>
            <a:schemeClr val="accent3"/>
          </a:solidFill>
          <a:ln/>
        </p:spPr>
      </p:sp>
      <p:sp>
        <p:nvSpPr>
          <p:cNvPr id="9" name="Text 7"/>
          <p:cNvSpPr txBox="1"/>
          <p:nvPr/>
        </p:nvSpPr>
        <p:spPr>
          <a:xfrm>
            <a:off x="2926080" y="3017520"/>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rPr>
              <a:t>Qdrant</a:t>
            </a:r>
            <a:endParaRPr lang="en-US" sz="1200" dirty="0"/>
          </a:p>
        </p:txBody>
      </p:sp>
      <p:sp>
        <p:nvSpPr>
          <p:cNvPr id="10" name="Tech chip React"/>
          <p:cNvSpPr/>
          <p:nvPr/>
        </p:nvSpPr>
        <p:spPr>
          <a:xfrm>
            <a:off x="4114800" y="3017520"/>
            <a:ext cx="1051560" cy="329184"/>
          </a:xfrm>
          <a:prstGeom prst="roundRect">
            <a:avLst>
              <a:gd name="adj" fmla="val 50000"/>
            </a:avLst>
          </a:prstGeom>
          <a:solidFill>
            <a:schemeClr val="accent3"/>
          </a:solidFill>
          <a:ln/>
        </p:spPr>
      </p:sp>
      <p:sp>
        <p:nvSpPr>
          <p:cNvPr id="11" name="Text 9"/>
          <p:cNvSpPr txBox="1"/>
          <p:nvPr/>
        </p:nvSpPr>
        <p:spPr>
          <a:xfrm>
            <a:off x="4114800" y="3017520"/>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rPr>
              <a:t>React</a:t>
            </a:r>
            <a:endParaRPr lang="en-US" sz="1200" dirty="0"/>
          </a:p>
        </p:txBody>
      </p:sp>
      <p:sp>
        <p:nvSpPr>
          <p:cNvPr id="12" name="Text 10"/>
          <p:cNvSpPr txBox="1"/>
          <p:nvPr/>
        </p:nvSpPr>
        <p:spPr>
          <a:xfrm>
            <a:off x="548640" y="3566160"/>
            <a:ext cx="4572000" cy="228600"/>
          </a:xfrm>
          <a:prstGeom prst="rect">
            <a:avLst/>
          </a:prstGeom>
          <a:noFill/>
          <a:ln/>
        </p:spPr>
        <p:txBody>
          <a:bodyPr wrap="square" lIns="0" tIns="0" rIns="0" bIns="0" rtlCol="0" anchor="ctr"/>
          <a:lstStyle/>
          <a:p>
            <a:pPr indent="0" marL="0">
              <a:buNone/>
            </a:pPr>
            <a:r>
              <a:rPr lang="en-US" sz="1200" dirty="0">
                <a:solidFill>
                  <a:schemeClr val="accent6"/>
                </a:solidFill>
              </a:rPr>
              <a:t>Presented by</a:t>
            </a:r>
            <a:endParaRPr lang="en-US" sz="1200" dirty="0"/>
          </a:p>
        </p:txBody>
      </p:sp>
      <p:sp>
        <p:nvSpPr>
          <p:cNvPr id="13" name="Text 11"/>
          <p:cNvSpPr txBox="1"/>
          <p:nvPr/>
        </p:nvSpPr>
        <p:spPr>
          <a:xfrm>
            <a:off x="548640" y="3822192"/>
            <a:ext cx="4572000" cy="246888"/>
          </a:xfrm>
          <a:prstGeom prst="rect">
            <a:avLst/>
          </a:prstGeom>
          <a:noFill/>
          <a:ln/>
        </p:spPr>
        <p:txBody>
          <a:bodyPr wrap="square" lIns="0" tIns="0" rIns="0" bIns="0" rtlCol="0" anchor="ctr"/>
          <a:lstStyle/>
          <a:p>
            <a:pPr indent="0" marL="0">
              <a:buNone/>
            </a:pPr>
            <a:r>
              <a:rPr lang="en-US" sz="1400" b="1" dirty="0">
                <a:solidFill>
                  <a:schemeClr val="bg1"/>
                </a:solidFill>
              </a:rPr>
              <a:t>ANUSREE T (24MIA1094)</a:t>
            </a:r>
            <a:endParaRPr lang="en-US" sz="1400" dirty="0"/>
          </a:p>
        </p:txBody>
      </p:sp>
      <p:sp>
        <p:nvSpPr>
          <p:cNvPr id="14" name="Text 12"/>
          <p:cNvSpPr txBox="1"/>
          <p:nvPr/>
        </p:nvSpPr>
        <p:spPr>
          <a:xfrm>
            <a:off x="548640" y="4087368"/>
            <a:ext cx="4572000" cy="246888"/>
          </a:xfrm>
          <a:prstGeom prst="rect">
            <a:avLst/>
          </a:prstGeom>
          <a:noFill/>
          <a:ln/>
        </p:spPr>
        <p:txBody>
          <a:bodyPr wrap="square" lIns="0" tIns="0" rIns="0" bIns="0" rtlCol="0" anchor="ctr"/>
          <a:lstStyle/>
          <a:p>
            <a:pPr indent="0" marL="0">
              <a:buNone/>
            </a:pPr>
            <a:r>
              <a:rPr lang="en-US" sz="1400" b="1" dirty="0">
                <a:solidFill>
                  <a:schemeClr val="bg1"/>
                </a:solidFill>
              </a:rPr>
              <a:t>KARAN RB (24MIA1132)</a:t>
            </a:r>
            <a:endParaRPr lang="en-US" sz="1400" dirty="0"/>
          </a:p>
        </p:txBody>
      </p:sp>
      <p:sp>
        <p:nvSpPr>
          <p:cNvPr id="15" name="Text 13"/>
          <p:cNvSpPr txBox="1"/>
          <p:nvPr/>
        </p:nvSpPr>
        <p:spPr>
          <a:xfrm>
            <a:off x="548640" y="4352544"/>
            <a:ext cx="4572000" cy="246888"/>
          </a:xfrm>
          <a:prstGeom prst="rect">
            <a:avLst/>
          </a:prstGeom>
          <a:noFill/>
          <a:ln/>
        </p:spPr>
        <p:txBody>
          <a:bodyPr wrap="square" lIns="0" tIns="0" rIns="0" bIns="0" rtlCol="0" anchor="ctr"/>
          <a:lstStyle/>
          <a:p>
            <a:pPr indent="0" marL="0">
              <a:buNone/>
            </a:pPr>
            <a:r>
              <a:rPr lang="en-US" sz="1400" b="1" dirty="0">
                <a:solidFill>
                  <a:schemeClr val="bg1"/>
                </a:solidFill>
              </a:rPr>
              <a:t>ARVINDAKSHAN (24MIA1127)</a:t>
            </a:r>
            <a:endParaRPr lang="en-US" sz="1400" dirty="0"/>
          </a:p>
        </p:txBody>
      </p:sp>
      <p:sp>
        <p:nvSpPr>
          <p:cNvPr id="16" name="Stat tile 1"/>
          <p:cNvSpPr/>
          <p:nvPr/>
        </p:nvSpPr>
        <p:spPr>
          <a:xfrm>
            <a:off x="5806440" y="868680"/>
            <a:ext cx="1371600" cy="1508760"/>
          </a:xfrm>
          <a:prstGeom prst="roundRect">
            <a:avLst>
              <a:gd name="adj" fmla="val 6667"/>
            </a:avLst>
          </a:prstGeom>
          <a:solidFill>
            <a:schemeClr val="tx2"/>
          </a:solidFill>
          <a:ln/>
        </p:spPr>
      </p:sp>
      <p:sp>
        <p:nvSpPr>
          <p:cNvPr id="17" name="Text 15"/>
          <p:cNvSpPr txBox="1"/>
          <p:nvPr/>
        </p:nvSpPr>
        <p:spPr>
          <a:xfrm>
            <a:off x="5806440" y="1097280"/>
            <a:ext cx="1371600" cy="640080"/>
          </a:xfrm>
          <a:prstGeom prst="rect">
            <a:avLst/>
          </a:prstGeom>
          <a:noFill/>
          <a:ln/>
        </p:spPr>
        <p:txBody>
          <a:bodyPr wrap="square" lIns="0" tIns="0" rIns="0" bIns="0" rtlCol="0" anchor="ctr"/>
          <a:lstStyle/>
          <a:p>
            <a:pPr algn="ctr" indent="0" marL="0">
              <a:buNone/>
            </a:pPr>
            <a:r>
              <a:rPr lang="en-US" sz="4000" b="1" dirty="0">
                <a:solidFill>
                  <a:schemeClr val="accent1"/>
                </a:solidFill>
              </a:rPr>
              <a:t>5</a:t>
            </a:r>
            <a:endParaRPr lang="en-US" sz="4000" dirty="0"/>
          </a:p>
        </p:txBody>
      </p:sp>
      <p:sp>
        <p:nvSpPr>
          <p:cNvPr id="18" name="Text 16"/>
          <p:cNvSpPr txBox="1"/>
          <p:nvPr/>
        </p:nvSpPr>
        <p:spPr>
          <a:xfrm>
            <a:off x="5897880" y="1783080"/>
            <a:ext cx="1188720" cy="457200"/>
          </a:xfrm>
          <a:prstGeom prst="rect">
            <a:avLst/>
          </a:prstGeom>
          <a:noFill/>
          <a:ln/>
        </p:spPr>
        <p:txBody>
          <a:bodyPr wrap="square" lIns="0" tIns="0" rIns="0" bIns="0" rtlCol="0" anchor="t"/>
          <a:lstStyle/>
          <a:p>
            <a:pPr algn="ctr" indent="0" marL="0">
              <a:buNone/>
            </a:pPr>
            <a:r>
              <a:rPr lang="en-US" sz="1200" dirty="0">
                <a:solidFill>
                  <a:schemeClr val="bg1"/>
                </a:solidFill>
              </a:rPr>
              <a:t>specialised AI agents</a:t>
            </a:r>
            <a:endParaRPr lang="en-US" sz="1200" dirty="0"/>
          </a:p>
        </p:txBody>
      </p:sp>
      <p:sp>
        <p:nvSpPr>
          <p:cNvPr id="19" name="Stat tile 2"/>
          <p:cNvSpPr/>
          <p:nvPr/>
        </p:nvSpPr>
        <p:spPr>
          <a:xfrm>
            <a:off x="7315200" y="868680"/>
            <a:ext cx="1371600" cy="1508760"/>
          </a:xfrm>
          <a:prstGeom prst="roundRect">
            <a:avLst>
              <a:gd name="adj" fmla="val 6667"/>
            </a:avLst>
          </a:prstGeom>
          <a:solidFill>
            <a:schemeClr val="tx2"/>
          </a:solidFill>
          <a:ln/>
        </p:spPr>
      </p:sp>
      <p:sp>
        <p:nvSpPr>
          <p:cNvPr id="20" name="Text 18"/>
          <p:cNvSpPr txBox="1"/>
          <p:nvPr/>
        </p:nvSpPr>
        <p:spPr>
          <a:xfrm>
            <a:off x="7315200" y="1097280"/>
            <a:ext cx="1371600" cy="640080"/>
          </a:xfrm>
          <a:prstGeom prst="rect">
            <a:avLst/>
          </a:prstGeom>
          <a:noFill/>
          <a:ln/>
        </p:spPr>
        <p:txBody>
          <a:bodyPr wrap="square" lIns="0" tIns="0" rIns="0" bIns="0" rtlCol="0" anchor="ctr"/>
          <a:lstStyle/>
          <a:p>
            <a:pPr algn="ctr" indent="0" marL="0">
              <a:buNone/>
            </a:pPr>
            <a:r>
              <a:rPr lang="en-US" sz="4000" b="1" dirty="0">
                <a:solidFill>
                  <a:schemeClr val="accent1"/>
                </a:solidFill>
              </a:rPr>
              <a:t>3</a:t>
            </a:r>
            <a:endParaRPr lang="en-US" sz="4000" dirty="0"/>
          </a:p>
        </p:txBody>
      </p:sp>
      <p:sp>
        <p:nvSpPr>
          <p:cNvPr id="21" name="Text 19"/>
          <p:cNvSpPr txBox="1"/>
          <p:nvPr/>
        </p:nvSpPr>
        <p:spPr>
          <a:xfrm>
            <a:off x="7406640" y="1783080"/>
            <a:ext cx="1188720" cy="457200"/>
          </a:xfrm>
          <a:prstGeom prst="rect">
            <a:avLst/>
          </a:prstGeom>
          <a:noFill/>
          <a:ln/>
        </p:spPr>
        <p:txBody>
          <a:bodyPr wrap="square" lIns="0" tIns="0" rIns="0" bIns="0" rtlCol="0" anchor="t"/>
          <a:lstStyle/>
          <a:p>
            <a:pPr algn="ctr" indent="0" marL="0">
              <a:buNone/>
            </a:pPr>
            <a:r>
              <a:rPr lang="en-US" sz="1200" dirty="0">
                <a:solidFill>
                  <a:schemeClr val="bg1"/>
                </a:solidFill>
              </a:rPr>
              <a:t>isolated vector stores</a:t>
            </a:r>
            <a:endParaRPr lang="en-US" sz="1200" dirty="0"/>
          </a:p>
        </p:txBody>
      </p:sp>
      <p:sp>
        <p:nvSpPr>
          <p:cNvPr id="22" name="Stat tile 3"/>
          <p:cNvSpPr/>
          <p:nvPr/>
        </p:nvSpPr>
        <p:spPr>
          <a:xfrm>
            <a:off x="5806440" y="2514600"/>
            <a:ext cx="1371600" cy="1508760"/>
          </a:xfrm>
          <a:prstGeom prst="roundRect">
            <a:avLst>
              <a:gd name="adj" fmla="val 6667"/>
            </a:avLst>
          </a:prstGeom>
          <a:solidFill>
            <a:schemeClr val="tx2"/>
          </a:solidFill>
          <a:ln/>
        </p:spPr>
      </p:sp>
      <p:sp>
        <p:nvSpPr>
          <p:cNvPr id="23" name="Text 21"/>
          <p:cNvSpPr txBox="1"/>
          <p:nvPr/>
        </p:nvSpPr>
        <p:spPr>
          <a:xfrm>
            <a:off x="5806440" y="2743200"/>
            <a:ext cx="1371600" cy="640080"/>
          </a:xfrm>
          <a:prstGeom prst="rect">
            <a:avLst/>
          </a:prstGeom>
          <a:noFill/>
          <a:ln/>
        </p:spPr>
        <p:txBody>
          <a:bodyPr wrap="square" lIns="0" tIns="0" rIns="0" bIns="0" rtlCol="0" anchor="ctr"/>
          <a:lstStyle/>
          <a:p>
            <a:pPr algn="ctr" indent="0" marL="0">
              <a:buNone/>
            </a:pPr>
            <a:r>
              <a:rPr lang="en-US" sz="4000" b="1" dirty="0">
                <a:solidFill>
                  <a:schemeClr val="accent1"/>
                </a:solidFill>
              </a:rPr>
              <a:t>2</a:t>
            </a:r>
            <a:endParaRPr lang="en-US" sz="4000" dirty="0"/>
          </a:p>
        </p:txBody>
      </p:sp>
      <p:sp>
        <p:nvSpPr>
          <p:cNvPr id="24" name="Text 22"/>
          <p:cNvSpPr txBox="1"/>
          <p:nvPr/>
        </p:nvSpPr>
        <p:spPr>
          <a:xfrm>
            <a:off x="5897880" y="3429000"/>
            <a:ext cx="1188720" cy="457200"/>
          </a:xfrm>
          <a:prstGeom prst="rect">
            <a:avLst/>
          </a:prstGeom>
          <a:noFill/>
          <a:ln/>
        </p:spPr>
        <p:txBody>
          <a:bodyPr wrap="square" lIns="0" tIns="0" rIns="0" bIns="0" rtlCol="0" anchor="t"/>
          <a:lstStyle/>
          <a:p>
            <a:pPr algn="ctr" indent="0" marL="0">
              <a:buNone/>
            </a:pPr>
            <a:r>
              <a:rPr lang="en-US" sz="1200" dirty="0">
                <a:solidFill>
                  <a:schemeClr val="bg1"/>
                </a:solidFill>
              </a:rPr>
              <a:t>languages: English, Tamil</a:t>
            </a:r>
            <a:endParaRPr lang="en-US" sz="1200" dirty="0"/>
          </a:p>
        </p:txBody>
      </p:sp>
      <p:sp>
        <p:nvSpPr>
          <p:cNvPr id="25" name="Stat tile 4"/>
          <p:cNvSpPr/>
          <p:nvPr/>
        </p:nvSpPr>
        <p:spPr>
          <a:xfrm>
            <a:off x="7315200" y="2514600"/>
            <a:ext cx="1371600" cy="1508760"/>
          </a:xfrm>
          <a:prstGeom prst="roundRect">
            <a:avLst>
              <a:gd name="adj" fmla="val 6667"/>
            </a:avLst>
          </a:prstGeom>
          <a:solidFill>
            <a:schemeClr val="tx2"/>
          </a:solidFill>
          <a:ln/>
        </p:spPr>
      </p:sp>
      <p:sp>
        <p:nvSpPr>
          <p:cNvPr id="26" name="Text 24"/>
          <p:cNvSpPr txBox="1"/>
          <p:nvPr/>
        </p:nvSpPr>
        <p:spPr>
          <a:xfrm>
            <a:off x="7315200" y="2743200"/>
            <a:ext cx="1371600" cy="640080"/>
          </a:xfrm>
          <a:prstGeom prst="rect">
            <a:avLst/>
          </a:prstGeom>
          <a:noFill/>
          <a:ln/>
        </p:spPr>
        <p:txBody>
          <a:bodyPr wrap="square" lIns="0" tIns="0" rIns="0" bIns="0" rtlCol="0" anchor="ctr"/>
          <a:lstStyle/>
          <a:p>
            <a:pPr algn="ctr" indent="0" marL="0">
              <a:buNone/>
            </a:pPr>
            <a:r>
              <a:rPr lang="en-US" sz="3000" b="1" dirty="0">
                <a:solidFill>
                  <a:schemeClr val="accent1"/>
                </a:solidFill>
              </a:rPr>
              <a:t>30/30</a:t>
            </a:r>
            <a:endParaRPr lang="en-US" sz="3000" dirty="0"/>
          </a:p>
        </p:txBody>
      </p:sp>
      <p:sp>
        <p:nvSpPr>
          <p:cNvPr id="27" name="Text 25"/>
          <p:cNvSpPr txBox="1"/>
          <p:nvPr/>
        </p:nvSpPr>
        <p:spPr>
          <a:xfrm>
            <a:off x="7406640" y="3429000"/>
            <a:ext cx="1188720" cy="457200"/>
          </a:xfrm>
          <a:prstGeom prst="rect">
            <a:avLst/>
          </a:prstGeom>
          <a:noFill/>
          <a:ln/>
        </p:spPr>
        <p:txBody>
          <a:bodyPr wrap="square" lIns="0" tIns="0" rIns="0" bIns="0" rtlCol="0" anchor="t"/>
          <a:lstStyle/>
          <a:p>
            <a:pPr algn="ctr" indent="0" marL="0">
              <a:buNone/>
            </a:pPr>
            <a:r>
              <a:rPr lang="en-US" sz="1200" dirty="0">
                <a:solidFill>
                  <a:schemeClr val="bg1"/>
                </a:solidFill>
              </a:rPr>
              <a:t>automated tests passing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Rumours move prices before filings do</a:t>
            </a:r>
            <a:endParaRPr lang="en-US" sz="2800" dirty="0"/>
          </a:p>
        </p:txBody>
      </p:sp>
      <p:sp>
        <p:nvSpPr>
          <p:cNvPr id="3" name="Problem panel"/>
          <p:cNvSpPr/>
          <p:nvPr/>
        </p:nvSpPr>
        <p:spPr>
          <a:xfrm>
            <a:off x="457200" y="1143000"/>
            <a:ext cx="3017520" cy="3429000"/>
          </a:xfrm>
          <a:prstGeom prst="roundRect">
            <a:avLst>
              <a:gd name="adj" fmla="val 3030"/>
            </a:avLst>
          </a:prstGeom>
          <a:solidFill>
            <a:schemeClr val="tx1"/>
          </a:solidFill>
          <a:ln/>
        </p:spPr>
      </p:sp>
      <p:sp>
        <p:nvSpPr>
          <p:cNvPr id="4" name="Text 2"/>
          <p:cNvSpPr txBox="1"/>
          <p:nvPr/>
        </p:nvSpPr>
        <p:spPr>
          <a:xfrm>
            <a:off x="685800" y="1371600"/>
            <a:ext cx="25603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5" name="Text 3"/>
          <p:cNvSpPr txBox="1"/>
          <p:nvPr/>
        </p:nvSpPr>
        <p:spPr>
          <a:xfrm>
            <a:off x="685800" y="1691640"/>
            <a:ext cx="2560320" cy="868680"/>
          </a:xfrm>
          <a:prstGeom prst="rect">
            <a:avLst/>
          </a:prstGeom>
          <a:noFill/>
          <a:ln/>
        </p:spPr>
        <p:txBody>
          <a:bodyPr wrap="square" lIns="0" tIns="0" rIns="0" bIns="0" rtlCol="0" anchor="ctr"/>
          <a:lstStyle/>
          <a:p>
            <a:pPr indent="0" marL="0">
              <a:buNone/>
            </a:pPr>
            <a:r>
              <a:rPr lang="en-US" sz="5400" b="1" dirty="0">
                <a:solidFill>
                  <a:schemeClr val="bg1"/>
                </a:solidFill>
              </a:rPr>
              <a:t>3–7%</a:t>
            </a:r>
            <a:endParaRPr lang="en-US" sz="5400" dirty="0"/>
          </a:p>
        </p:txBody>
      </p:sp>
      <p:sp>
        <p:nvSpPr>
          <p:cNvPr id="6" name="Text 4"/>
          <p:cNvSpPr txBox="1"/>
          <p:nvPr/>
        </p:nvSpPr>
        <p:spPr>
          <a:xfrm>
            <a:off x="685800" y="2606040"/>
            <a:ext cx="2560320" cy="1005840"/>
          </a:xfrm>
          <a:prstGeom prst="rect">
            <a:avLst/>
          </a:prstGeom>
          <a:noFill/>
          <a:ln/>
        </p:spPr>
        <p:txBody>
          <a:bodyPr wrap="square" lIns="0" tIns="0" rIns="0" bIns="0" rtlCol="0" anchor="t"/>
          <a:lstStyle/>
          <a:p>
            <a:pPr indent="0" marL="0">
              <a:buNone/>
            </a:pPr>
            <a:r>
              <a:rPr lang="en-US" sz="1300" dirty="0">
                <a:solidFill>
                  <a:schemeClr val="bg1"/>
                </a:solidFill>
              </a:rPr>
              <a:t>price swings triggered by unverified Telegram, WhatsApp and regional-media rumours before issuers clarify to exchanges</a:t>
            </a:r>
            <a:endParaRPr lang="en-US" sz="1300" dirty="0"/>
          </a:p>
        </p:txBody>
      </p:sp>
      <p:sp>
        <p:nvSpPr>
          <p:cNvPr id="7" name="Text 5"/>
          <p:cNvSpPr txBox="1"/>
          <p:nvPr/>
        </p:nvSpPr>
        <p:spPr>
          <a:xfrm>
            <a:off x="685800" y="3749040"/>
            <a:ext cx="2560320" cy="548640"/>
          </a:xfrm>
          <a:prstGeom prst="rect">
            <a:avLst/>
          </a:prstGeom>
          <a:noFill/>
          <a:ln/>
        </p:spPr>
        <p:txBody>
          <a:bodyPr wrap="square" lIns="0" tIns="0" rIns="0" bIns="0" rtlCol="0" anchor="t"/>
          <a:lstStyle/>
          <a:p>
            <a:pPr indent="0" marL="0">
              <a:buNone/>
            </a:pPr>
            <a:r>
              <a:rPr lang="en-US" sz="1300" b="1" dirty="0">
                <a:solidFill>
                  <a:schemeClr val="accent1"/>
                </a:solidFill>
              </a:rPr>
              <a:t>Sentiment tools score tone, not truth.</a:t>
            </a:r>
            <a:endParaRPr lang="en-US" sz="1300" dirty="0"/>
          </a:p>
        </p:txBody>
      </p:sp>
      <p:sp>
        <p:nvSpPr>
          <p:cNvPr id="8" name="Capability card 1"/>
          <p:cNvSpPr/>
          <p:nvPr/>
        </p:nvSpPr>
        <p:spPr>
          <a:xfrm>
            <a:off x="3703320" y="1143000"/>
            <a:ext cx="2377440" cy="1627632"/>
          </a:xfrm>
          <a:prstGeom prst="roundRect">
            <a:avLst>
              <a:gd name="adj" fmla="val 4494"/>
            </a:avLst>
          </a:prstGeom>
          <a:solidFill>
            <a:schemeClr val="bg2"/>
          </a:solidFill>
          <a:ln/>
          <a:effectLst>
            <a:outerShdw sx="100000" sy="100000" kx="0" ky="0" algn="bl" rotWithShape="0" blurRad="76200" dist="25400" dir="5400000">
              <a:srgbClr val="000000">
                <a:alpha val="12000"/>
              </a:srgbClr>
            </a:outerShdw>
          </a:effectLst>
        </p:spPr>
      </p:sp>
      <p:sp>
        <p:nvSpPr>
          <p:cNvPr id="9" name="Evidence-grounded badge"/>
          <p:cNvSpPr/>
          <p:nvPr/>
        </p:nvSpPr>
        <p:spPr>
          <a:xfrm>
            <a:off x="3886200" y="1325880"/>
            <a:ext cx="420624" cy="420624"/>
          </a:xfrm>
          <a:prstGeom prst="ellipse">
            <a:avLst/>
          </a:prstGeom>
          <a:solidFill>
            <a:schemeClr val="accent3"/>
          </a:solidFill>
          <a:ln/>
        </p:spPr>
      </p:sp>
      <p:pic>
        <p:nvPicPr>
          <p:cNvPr id="10" name="Image 0" descr="Evidence-grounded">    </p:cNvPr>
          <p:cNvPicPr>
            <a:picLocks noChangeAspect="1"/>
          </p:cNvPicPr>
          <p:nvPr/>
        </p:nvPicPr>
        <p:blipFill>
          <a:blip r:embed="rId1"/>
          <a:stretch>
            <a:fillRect/>
          </a:stretch>
        </p:blipFill>
        <p:spPr>
          <a:xfrm>
            <a:off x="3978737" y="1418417"/>
            <a:ext cx="235549" cy="235549"/>
          </a:xfrm>
          <a:prstGeom prst="rect">
            <a:avLst/>
          </a:prstGeom>
        </p:spPr>
      </p:pic>
      <p:sp>
        <p:nvSpPr>
          <p:cNvPr id="11" name="Text 8"/>
          <p:cNvSpPr txBox="1"/>
          <p:nvPr/>
        </p:nvSpPr>
        <p:spPr>
          <a:xfrm>
            <a:off x="3886200" y="1828800"/>
            <a:ext cx="2011680" cy="256032"/>
          </a:xfrm>
          <a:prstGeom prst="rect">
            <a:avLst/>
          </a:prstGeom>
          <a:noFill/>
          <a:ln/>
        </p:spPr>
        <p:txBody>
          <a:bodyPr wrap="square" lIns="0" tIns="0" rIns="0" bIns="0" rtlCol="0" anchor="ctr"/>
          <a:lstStyle/>
          <a:p>
            <a:pPr indent="0" marL="0">
              <a:buNone/>
            </a:pPr>
            <a:r>
              <a:rPr lang="en-US" sz="1400" b="1" dirty="0">
                <a:solidFill>
                  <a:schemeClr val="tx1"/>
                </a:solidFill>
              </a:rPr>
              <a:t>Evidence-grounded</a:t>
            </a:r>
            <a:endParaRPr lang="en-US" sz="1400" dirty="0"/>
          </a:p>
        </p:txBody>
      </p:sp>
      <p:sp>
        <p:nvSpPr>
          <p:cNvPr id="12" name="Text 9"/>
          <p:cNvSpPr txBox="1"/>
          <p:nvPr/>
        </p:nvSpPr>
        <p:spPr>
          <a:xfrm>
            <a:off x="3886200" y="2103120"/>
            <a:ext cx="2057400" cy="594360"/>
          </a:xfrm>
          <a:prstGeom prst="rect">
            <a:avLst/>
          </a:prstGeom>
          <a:noFill/>
          <a:ln/>
        </p:spPr>
        <p:txBody>
          <a:bodyPr wrap="square" lIns="0" tIns="0" rIns="0" bIns="0" rtlCol="0" anchor="t"/>
          <a:lstStyle/>
          <a:p>
            <a:pPr indent="0" marL="0">
              <a:buNone/>
            </a:pPr>
            <a:r>
              <a:rPr lang="en-US" sz="1200" dirty="0">
                <a:solidFill>
                  <a:schemeClr val="tx2"/>
                </a:solidFill>
              </a:rPr>
              <a:t>Every verdict cites a SEBI Reg 30 / BSE filing with its similarity score.</a:t>
            </a:r>
            <a:endParaRPr lang="en-US" sz="1200" dirty="0"/>
          </a:p>
        </p:txBody>
      </p:sp>
      <p:sp>
        <p:nvSpPr>
          <p:cNvPr id="13" name="Capability card 2"/>
          <p:cNvSpPr/>
          <p:nvPr/>
        </p:nvSpPr>
        <p:spPr>
          <a:xfrm>
            <a:off x="6309360" y="1143000"/>
            <a:ext cx="2377440" cy="1627632"/>
          </a:xfrm>
          <a:prstGeom prst="roundRect">
            <a:avLst>
              <a:gd name="adj" fmla="val 4494"/>
            </a:avLst>
          </a:prstGeom>
          <a:solidFill>
            <a:schemeClr val="bg2"/>
          </a:solidFill>
          <a:ln/>
          <a:effectLst>
            <a:outerShdw sx="100000" sy="100000" kx="0" ky="0" algn="bl" rotWithShape="0" blurRad="76200" dist="25400" dir="5400000">
              <a:srgbClr val="000000">
                <a:alpha val="12000"/>
              </a:srgbClr>
            </a:outerShdw>
          </a:effectLst>
        </p:spPr>
      </p:sp>
      <p:sp>
        <p:nvSpPr>
          <p:cNvPr id="14" name="Source credibility badge"/>
          <p:cNvSpPr/>
          <p:nvPr/>
        </p:nvSpPr>
        <p:spPr>
          <a:xfrm>
            <a:off x="6492240" y="1325880"/>
            <a:ext cx="420624" cy="420624"/>
          </a:xfrm>
          <a:prstGeom prst="ellipse">
            <a:avLst/>
          </a:prstGeom>
          <a:solidFill>
            <a:schemeClr val="accent2"/>
          </a:solidFill>
          <a:ln/>
        </p:spPr>
      </p:sp>
      <p:pic>
        <p:nvPicPr>
          <p:cNvPr id="15" name="Image 1" descr="Source credibility">    </p:cNvPr>
          <p:cNvPicPr>
            <a:picLocks noChangeAspect="1"/>
          </p:cNvPicPr>
          <p:nvPr/>
        </p:nvPicPr>
        <p:blipFill>
          <a:blip r:embed="rId2"/>
          <a:stretch>
            <a:fillRect/>
          </a:stretch>
        </p:blipFill>
        <p:spPr>
          <a:xfrm>
            <a:off x="6584777" y="1418417"/>
            <a:ext cx="235549" cy="235549"/>
          </a:xfrm>
          <a:prstGeom prst="rect">
            <a:avLst/>
          </a:prstGeom>
        </p:spPr>
      </p:pic>
      <p:sp>
        <p:nvSpPr>
          <p:cNvPr id="16" name="Text 12"/>
          <p:cNvSpPr txBox="1"/>
          <p:nvPr/>
        </p:nvSpPr>
        <p:spPr>
          <a:xfrm>
            <a:off x="6492240" y="1828800"/>
            <a:ext cx="2011680" cy="256032"/>
          </a:xfrm>
          <a:prstGeom prst="rect">
            <a:avLst/>
          </a:prstGeom>
          <a:noFill/>
          <a:ln/>
        </p:spPr>
        <p:txBody>
          <a:bodyPr wrap="square" lIns="0" tIns="0" rIns="0" bIns="0" rtlCol="0" anchor="ctr"/>
          <a:lstStyle/>
          <a:p>
            <a:pPr indent="0" marL="0">
              <a:buNone/>
            </a:pPr>
            <a:r>
              <a:rPr lang="en-US" sz="1400" b="1" dirty="0">
                <a:solidFill>
                  <a:schemeClr val="tx1"/>
                </a:solidFill>
              </a:rPr>
              <a:t>Source credibility</a:t>
            </a:r>
            <a:endParaRPr lang="en-US" sz="1400" dirty="0"/>
          </a:p>
        </p:txBody>
      </p:sp>
      <p:sp>
        <p:nvSpPr>
          <p:cNvPr id="17" name="Text 13"/>
          <p:cNvSpPr txBox="1"/>
          <p:nvPr/>
        </p:nvSpPr>
        <p:spPr>
          <a:xfrm>
            <a:off x="6492240" y="2103120"/>
            <a:ext cx="2057400" cy="594360"/>
          </a:xfrm>
          <a:prstGeom prst="rect">
            <a:avLst/>
          </a:prstGeom>
          <a:noFill/>
          <a:ln/>
        </p:spPr>
        <p:txBody>
          <a:bodyPr wrap="square" lIns="0" tIns="0" rIns="0" bIns="0" rtlCol="0" anchor="t"/>
          <a:lstStyle/>
          <a:p>
            <a:pPr indent="0" marL="0">
              <a:buNone/>
            </a:pPr>
            <a:r>
              <a:rPr lang="en-US" sz="1200" dirty="0">
                <a:solidFill>
                  <a:schemeClr val="tx2"/>
                </a:solidFill>
              </a:rPr>
              <a:t>Bayesian trust score discounts serial leakers and lifts proven sources.</a:t>
            </a:r>
            <a:endParaRPr lang="en-US" sz="1200" dirty="0"/>
          </a:p>
        </p:txBody>
      </p:sp>
      <p:sp>
        <p:nvSpPr>
          <p:cNvPr id="18" name="Capability card 3"/>
          <p:cNvSpPr/>
          <p:nvPr/>
        </p:nvSpPr>
        <p:spPr>
          <a:xfrm>
            <a:off x="3703320" y="2990088"/>
            <a:ext cx="2377440" cy="1627632"/>
          </a:xfrm>
          <a:prstGeom prst="roundRect">
            <a:avLst>
              <a:gd name="adj" fmla="val 4494"/>
            </a:avLst>
          </a:prstGeom>
          <a:solidFill>
            <a:schemeClr val="bg2"/>
          </a:solidFill>
          <a:ln/>
          <a:effectLst>
            <a:outerShdw sx="100000" sy="100000" kx="0" ky="0" algn="bl" rotWithShape="0" blurRad="76200" dist="25400" dir="5400000">
              <a:srgbClr val="000000">
                <a:alpha val="12000"/>
              </a:srgbClr>
            </a:outerShdw>
          </a:effectLst>
        </p:spPr>
      </p:sp>
      <p:sp>
        <p:nvSpPr>
          <p:cNvPr id="19" name="Adaptive retrieval badge"/>
          <p:cNvSpPr/>
          <p:nvPr/>
        </p:nvSpPr>
        <p:spPr>
          <a:xfrm>
            <a:off x="3886200" y="3172968"/>
            <a:ext cx="420624" cy="420624"/>
          </a:xfrm>
          <a:prstGeom prst="ellipse">
            <a:avLst/>
          </a:prstGeom>
          <a:solidFill>
            <a:schemeClr val="accent5"/>
          </a:solidFill>
          <a:ln/>
        </p:spPr>
      </p:sp>
      <p:pic>
        <p:nvPicPr>
          <p:cNvPr id="20" name="Image 2" descr="Adaptive retrieval">    </p:cNvPr>
          <p:cNvPicPr>
            <a:picLocks noChangeAspect="1"/>
          </p:cNvPicPr>
          <p:nvPr/>
        </p:nvPicPr>
        <p:blipFill>
          <a:blip r:embed="rId3"/>
          <a:stretch>
            <a:fillRect/>
          </a:stretch>
        </p:blipFill>
        <p:spPr>
          <a:xfrm>
            <a:off x="3978737" y="3265505"/>
            <a:ext cx="235549" cy="235549"/>
          </a:xfrm>
          <a:prstGeom prst="rect">
            <a:avLst/>
          </a:prstGeom>
        </p:spPr>
      </p:pic>
      <p:sp>
        <p:nvSpPr>
          <p:cNvPr id="21" name="Text 16"/>
          <p:cNvSpPr txBox="1"/>
          <p:nvPr/>
        </p:nvSpPr>
        <p:spPr>
          <a:xfrm>
            <a:off x="3886200" y="3675888"/>
            <a:ext cx="2011680" cy="256032"/>
          </a:xfrm>
          <a:prstGeom prst="rect">
            <a:avLst/>
          </a:prstGeom>
          <a:noFill/>
          <a:ln/>
        </p:spPr>
        <p:txBody>
          <a:bodyPr wrap="square" lIns="0" tIns="0" rIns="0" bIns="0" rtlCol="0" anchor="ctr"/>
          <a:lstStyle/>
          <a:p>
            <a:pPr indent="0" marL="0">
              <a:buNone/>
            </a:pPr>
            <a:r>
              <a:rPr lang="en-US" sz="1400" b="1" dirty="0">
                <a:solidFill>
                  <a:schemeClr val="tx1"/>
                </a:solidFill>
              </a:rPr>
              <a:t>Adaptive retrieval</a:t>
            </a:r>
            <a:endParaRPr lang="en-US" sz="1400" dirty="0"/>
          </a:p>
        </p:txBody>
      </p:sp>
      <p:sp>
        <p:nvSpPr>
          <p:cNvPr id="22" name="Text 17"/>
          <p:cNvSpPr txBox="1"/>
          <p:nvPr/>
        </p:nvSpPr>
        <p:spPr>
          <a:xfrm>
            <a:off x="3886200" y="3950208"/>
            <a:ext cx="2057400" cy="594360"/>
          </a:xfrm>
          <a:prstGeom prst="rect">
            <a:avLst/>
          </a:prstGeom>
          <a:noFill/>
          <a:ln/>
        </p:spPr>
        <p:txBody>
          <a:bodyPr wrap="square" lIns="0" tIns="0" rIns="0" bIns="0" rtlCol="0" anchor="t"/>
          <a:lstStyle/>
          <a:p>
            <a:pPr indent="0" marL="0">
              <a:buNone/>
            </a:pPr>
            <a:r>
              <a:rPr lang="en-US" sz="1200" dirty="0">
                <a:solidFill>
                  <a:schemeClr val="tx2"/>
                </a:solidFill>
              </a:rPr>
              <a:t>Low trust or weak evidence widens the search and reformulates the query.</a:t>
            </a:r>
            <a:endParaRPr lang="en-US" sz="1200" dirty="0"/>
          </a:p>
        </p:txBody>
      </p:sp>
      <p:sp>
        <p:nvSpPr>
          <p:cNvPr id="23" name="Capability card 4"/>
          <p:cNvSpPr/>
          <p:nvPr/>
        </p:nvSpPr>
        <p:spPr>
          <a:xfrm>
            <a:off x="6309360" y="2990088"/>
            <a:ext cx="2377440" cy="1627632"/>
          </a:xfrm>
          <a:prstGeom prst="roundRect">
            <a:avLst>
              <a:gd name="adj" fmla="val 4494"/>
            </a:avLst>
          </a:prstGeom>
          <a:solidFill>
            <a:schemeClr val="bg2"/>
          </a:solidFill>
          <a:ln/>
          <a:effectLst>
            <a:outerShdw sx="100000" sy="100000" kx="0" ky="0" algn="bl" rotWithShape="0" blurRad="76200" dist="25400" dir="5400000">
              <a:srgbClr val="000000">
                <a:alpha val="12000"/>
              </a:srgbClr>
            </a:outerShdw>
          </a:effectLst>
        </p:spPr>
      </p:sp>
      <p:sp>
        <p:nvSpPr>
          <p:cNvPr id="24" name="English + Tamil badge"/>
          <p:cNvSpPr/>
          <p:nvPr/>
        </p:nvSpPr>
        <p:spPr>
          <a:xfrm>
            <a:off x="6492240" y="3172968"/>
            <a:ext cx="420624" cy="420624"/>
          </a:xfrm>
          <a:prstGeom prst="ellipse">
            <a:avLst/>
          </a:prstGeom>
          <a:solidFill>
            <a:schemeClr val="accent4"/>
          </a:solidFill>
          <a:ln/>
        </p:spPr>
      </p:sp>
      <p:pic>
        <p:nvPicPr>
          <p:cNvPr id="25" name="Image 3" descr="English + Tamil">    </p:cNvPr>
          <p:cNvPicPr>
            <a:picLocks noChangeAspect="1"/>
          </p:cNvPicPr>
          <p:nvPr/>
        </p:nvPicPr>
        <p:blipFill>
          <a:blip r:embed="rId4"/>
          <a:stretch>
            <a:fillRect/>
          </a:stretch>
        </p:blipFill>
        <p:spPr>
          <a:xfrm>
            <a:off x="6584777" y="3265505"/>
            <a:ext cx="235549" cy="235549"/>
          </a:xfrm>
          <a:prstGeom prst="rect">
            <a:avLst/>
          </a:prstGeom>
        </p:spPr>
      </p:pic>
      <p:sp>
        <p:nvSpPr>
          <p:cNvPr id="26" name="Text 20"/>
          <p:cNvSpPr txBox="1"/>
          <p:nvPr/>
        </p:nvSpPr>
        <p:spPr>
          <a:xfrm>
            <a:off x="6492240" y="3675888"/>
            <a:ext cx="2011680" cy="256032"/>
          </a:xfrm>
          <a:prstGeom prst="rect">
            <a:avLst/>
          </a:prstGeom>
          <a:noFill/>
          <a:ln/>
        </p:spPr>
        <p:txBody>
          <a:bodyPr wrap="square" lIns="0" tIns="0" rIns="0" bIns="0" rtlCol="0" anchor="ctr"/>
          <a:lstStyle/>
          <a:p>
            <a:pPr indent="0" marL="0">
              <a:buNone/>
            </a:pPr>
            <a:r>
              <a:rPr lang="en-US" sz="1400" b="1" dirty="0">
                <a:solidFill>
                  <a:schemeClr val="tx1"/>
                </a:solidFill>
              </a:rPr>
              <a:t>English + Tamil</a:t>
            </a:r>
            <a:endParaRPr lang="en-US" sz="1400" dirty="0"/>
          </a:p>
        </p:txBody>
      </p:sp>
      <p:sp>
        <p:nvSpPr>
          <p:cNvPr id="27" name="Text 21"/>
          <p:cNvSpPr txBox="1"/>
          <p:nvPr/>
        </p:nvSpPr>
        <p:spPr>
          <a:xfrm>
            <a:off x="6492240" y="3950208"/>
            <a:ext cx="2057400" cy="594360"/>
          </a:xfrm>
          <a:prstGeom prst="rect">
            <a:avLst/>
          </a:prstGeom>
          <a:noFill/>
          <a:ln/>
        </p:spPr>
        <p:txBody>
          <a:bodyPr wrap="square" lIns="0" tIns="0" rIns="0" bIns="0" rtlCol="0" anchor="t"/>
          <a:lstStyle/>
          <a:p>
            <a:pPr indent="0" marL="0">
              <a:buNone/>
            </a:pPr>
            <a:r>
              <a:rPr lang="en-US" sz="1200" dirty="0">
                <a:solidFill>
                  <a:schemeClr val="tx2"/>
                </a:solidFill>
              </a:rPr>
              <a:t>Regional phrasing is mapped to NSE/BSE tickers and official filings.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System architecture: four layers, one verdict</a:t>
            </a:r>
            <a:endParaRPr lang="en-US" sz="2800" dirty="0"/>
          </a:p>
        </p:txBody>
      </p:sp>
      <p:sp>
        <p:nvSpPr>
          <p:cNvPr id="3" name="Layer header Presentation"/>
          <p:cNvSpPr/>
          <p:nvPr/>
        </p:nvSpPr>
        <p:spPr>
          <a:xfrm>
            <a:off x="457200" y="1143000"/>
            <a:ext cx="1828800" cy="731520"/>
          </a:xfrm>
          <a:prstGeom prst="rect">
            <a:avLst/>
          </a:prstGeom>
          <a:solidFill>
            <a:schemeClr val="tx1"/>
          </a:solidFill>
          <a:ln/>
        </p:spPr>
      </p:sp>
      <p:pic>
        <p:nvPicPr>
          <p:cNvPr id="4" name="Image 0" descr="Presentation">    </p:cNvPr>
          <p:cNvPicPr>
            <a:picLocks noChangeAspect="1"/>
          </p:cNvPicPr>
          <p:nvPr/>
        </p:nvPicPr>
        <p:blipFill>
          <a:blip r:embed="rId1"/>
          <a:stretch>
            <a:fillRect/>
          </a:stretch>
        </p:blipFill>
        <p:spPr>
          <a:xfrm>
            <a:off x="621792" y="1325880"/>
            <a:ext cx="365760" cy="365760"/>
          </a:xfrm>
          <a:prstGeom prst="rect">
            <a:avLst/>
          </a:prstGeom>
        </p:spPr>
      </p:pic>
      <p:sp>
        <p:nvSpPr>
          <p:cNvPr id="5" name="Text 2"/>
          <p:cNvSpPr txBox="1"/>
          <p:nvPr/>
        </p:nvSpPr>
        <p:spPr>
          <a:xfrm>
            <a:off x="1078992" y="1143000"/>
            <a:ext cx="1188720" cy="731520"/>
          </a:xfrm>
          <a:prstGeom prst="rect">
            <a:avLst/>
          </a:prstGeom>
          <a:noFill/>
          <a:ln/>
        </p:spPr>
        <p:txBody>
          <a:bodyPr wrap="square" lIns="0" tIns="0" rIns="0" bIns="0" rtlCol="0" anchor="ctr"/>
          <a:lstStyle/>
          <a:p>
            <a:pPr indent="0" marL="0">
              <a:buNone/>
            </a:pPr>
            <a:r>
              <a:rPr lang="en-US" sz="1400" b="1" dirty="0">
                <a:solidFill>
                  <a:schemeClr val="bg1"/>
                </a:solidFill>
              </a:rPr>
              <a:t>Presentation</a:t>
            </a:r>
            <a:endParaRPr lang="en-US" sz="1400" dirty="0"/>
          </a:p>
        </p:txBody>
      </p:sp>
      <p:sp>
        <p:nvSpPr>
          <p:cNvPr id="6" name="Layer body Presentation"/>
          <p:cNvSpPr/>
          <p:nvPr/>
        </p:nvSpPr>
        <p:spPr>
          <a:xfrm>
            <a:off x="457200" y="1874520"/>
            <a:ext cx="1828800" cy="1783080"/>
          </a:xfrm>
          <a:prstGeom prst="rect">
            <a:avLst/>
          </a:prstGeom>
          <a:solidFill>
            <a:schemeClr val="bg2"/>
          </a:solidFill>
          <a:ln/>
        </p:spPr>
      </p:sp>
      <p:sp>
        <p:nvSpPr>
          <p:cNvPr id="7" name="Text 4"/>
          <p:cNvSpPr txBox="1"/>
          <p:nvPr/>
        </p:nvSpPr>
        <p:spPr>
          <a:xfrm>
            <a:off x="621792" y="2011680"/>
            <a:ext cx="155448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React 18 + TypeScript + Vite</a:t>
            </a:r>
            <a:endParaRPr lang="en-US" sz="1300" dirty="0"/>
          </a:p>
          <a:p>
            <a:pPr marL="342900" indent="-342900">
              <a:spcAft>
                <a:spcPts val="600"/>
              </a:spcAft>
              <a:buSzPct val="100000"/>
              <a:buChar char="•"/>
            </a:pPr>
            <a:r>
              <a:rPr lang="en-US" sz="1300" dirty="0">
                <a:solidFill>
                  <a:schemeClr val="tx1"/>
                </a:solidFill>
              </a:rPr>
              <a:t>Tailwind CSS, Recharts</a:t>
            </a:r>
            <a:endParaRPr lang="en-US" sz="1300" dirty="0"/>
          </a:p>
          <a:p>
            <a:pPr marL="342900" indent="-342900">
              <a:spcAft>
                <a:spcPts val="600"/>
              </a:spcAft>
              <a:buSzPct val="100000"/>
              <a:buChar char="•"/>
            </a:pPr>
            <a:r>
              <a:rPr lang="en-US" sz="1300" dirty="0">
                <a:solidFill>
                  <a:schemeClr val="tx1"/>
                </a:solidFill>
              </a:rPr>
              <a:t>Live agent DAG over SSE</a:t>
            </a:r>
            <a:endParaRPr lang="en-US" sz="1300" dirty="0"/>
          </a:p>
        </p:txBody>
      </p:sp>
      <p:sp>
        <p:nvSpPr>
          <p:cNvPr id="8" name="Flow arrow 1"/>
          <p:cNvSpPr/>
          <p:nvPr/>
        </p:nvSpPr>
        <p:spPr>
          <a:xfrm>
            <a:off x="2322576" y="2651760"/>
            <a:ext cx="228600" cy="274320"/>
          </a:xfrm>
          <a:prstGeom prst="rightArrow">
            <a:avLst/>
          </a:prstGeom>
          <a:solidFill>
            <a:schemeClr val="accent1"/>
          </a:solidFill>
          <a:ln/>
        </p:spPr>
      </p:sp>
      <p:sp>
        <p:nvSpPr>
          <p:cNvPr id="9" name="Layer header API &amp; Security"/>
          <p:cNvSpPr/>
          <p:nvPr/>
        </p:nvSpPr>
        <p:spPr>
          <a:xfrm>
            <a:off x="2587752" y="1143000"/>
            <a:ext cx="1828800" cy="731520"/>
          </a:xfrm>
          <a:prstGeom prst="rect">
            <a:avLst/>
          </a:prstGeom>
          <a:solidFill>
            <a:schemeClr val="tx1"/>
          </a:solidFill>
          <a:ln/>
        </p:spPr>
      </p:sp>
      <p:pic>
        <p:nvPicPr>
          <p:cNvPr id="10" name="Image 1" descr="API &amp; Security">    </p:cNvPr>
          <p:cNvPicPr>
            <a:picLocks noChangeAspect="1"/>
          </p:cNvPicPr>
          <p:nvPr/>
        </p:nvPicPr>
        <p:blipFill>
          <a:blip r:embed="rId2"/>
          <a:stretch>
            <a:fillRect/>
          </a:stretch>
        </p:blipFill>
        <p:spPr>
          <a:xfrm>
            <a:off x="2752344" y="1325880"/>
            <a:ext cx="365760" cy="365760"/>
          </a:xfrm>
          <a:prstGeom prst="rect">
            <a:avLst/>
          </a:prstGeom>
        </p:spPr>
      </p:pic>
      <p:sp>
        <p:nvSpPr>
          <p:cNvPr id="11" name="Text 7"/>
          <p:cNvSpPr txBox="1"/>
          <p:nvPr/>
        </p:nvSpPr>
        <p:spPr>
          <a:xfrm>
            <a:off x="3209544" y="1143000"/>
            <a:ext cx="1188720" cy="731520"/>
          </a:xfrm>
          <a:prstGeom prst="rect">
            <a:avLst/>
          </a:prstGeom>
          <a:noFill/>
          <a:ln/>
        </p:spPr>
        <p:txBody>
          <a:bodyPr wrap="square" lIns="0" tIns="0" rIns="0" bIns="0" rtlCol="0" anchor="ctr"/>
          <a:lstStyle/>
          <a:p>
            <a:pPr indent="0" marL="0">
              <a:buNone/>
            </a:pPr>
            <a:r>
              <a:rPr lang="en-US" sz="1400" b="1" dirty="0">
                <a:solidFill>
                  <a:schemeClr val="bg1"/>
                </a:solidFill>
              </a:rPr>
              <a:t>API &amp; Security</a:t>
            </a:r>
            <a:endParaRPr lang="en-US" sz="1400" dirty="0"/>
          </a:p>
        </p:txBody>
      </p:sp>
      <p:sp>
        <p:nvSpPr>
          <p:cNvPr id="12" name="Layer body API &amp; Security"/>
          <p:cNvSpPr/>
          <p:nvPr/>
        </p:nvSpPr>
        <p:spPr>
          <a:xfrm>
            <a:off x="2587752" y="1874520"/>
            <a:ext cx="1828800" cy="1783080"/>
          </a:xfrm>
          <a:prstGeom prst="rect">
            <a:avLst/>
          </a:prstGeom>
          <a:solidFill>
            <a:schemeClr val="bg2"/>
          </a:solidFill>
          <a:ln/>
        </p:spPr>
      </p:sp>
      <p:sp>
        <p:nvSpPr>
          <p:cNvPr id="13" name="Text 9"/>
          <p:cNvSpPr txBox="1"/>
          <p:nvPr/>
        </p:nvSpPr>
        <p:spPr>
          <a:xfrm>
            <a:off x="2752344" y="2011680"/>
            <a:ext cx="155448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FastAPI  /api/v1</a:t>
            </a:r>
            <a:endParaRPr lang="en-US" sz="1300" dirty="0"/>
          </a:p>
          <a:p>
            <a:pPr marL="342900" indent="-342900">
              <a:spcAft>
                <a:spcPts val="600"/>
              </a:spcAft>
              <a:buSzPct val="100000"/>
              <a:buChar char="•"/>
            </a:pPr>
            <a:r>
              <a:rPr lang="en-US" sz="1300" dirty="0">
                <a:solidFill>
                  <a:schemeClr val="tx1"/>
                </a:solidFill>
              </a:rPr>
              <a:t>JWT (HS256) + bcrypt</a:t>
            </a:r>
            <a:endParaRPr lang="en-US" sz="1300" dirty="0"/>
          </a:p>
          <a:p>
            <a:pPr marL="342900" indent="-342900">
              <a:spcAft>
                <a:spcPts val="600"/>
              </a:spcAft>
              <a:buSzPct val="100000"/>
              <a:buChar char="•"/>
            </a:pPr>
            <a:r>
              <a:rPr lang="en-US" sz="1300" dirty="0">
                <a:solidFill>
                  <a:schemeClr val="tx1"/>
                </a:solidFill>
              </a:rPr>
              <a:t>4-role RBAC</a:t>
            </a:r>
            <a:endParaRPr lang="en-US" sz="1300" dirty="0"/>
          </a:p>
        </p:txBody>
      </p:sp>
      <p:sp>
        <p:nvSpPr>
          <p:cNvPr id="14" name="Flow arrow 2"/>
          <p:cNvSpPr/>
          <p:nvPr/>
        </p:nvSpPr>
        <p:spPr>
          <a:xfrm>
            <a:off x="4453128" y="2651760"/>
            <a:ext cx="228600" cy="274320"/>
          </a:xfrm>
          <a:prstGeom prst="rightArrow">
            <a:avLst/>
          </a:prstGeom>
          <a:solidFill>
            <a:schemeClr val="accent1"/>
          </a:solidFill>
          <a:ln/>
        </p:spPr>
      </p:sp>
      <p:sp>
        <p:nvSpPr>
          <p:cNvPr id="15" name="Layer header Orchestration"/>
          <p:cNvSpPr/>
          <p:nvPr/>
        </p:nvSpPr>
        <p:spPr>
          <a:xfrm>
            <a:off x="4718304" y="1143000"/>
            <a:ext cx="1828800" cy="731520"/>
          </a:xfrm>
          <a:prstGeom prst="rect">
            <a:avLst/>
          </a:prstGeom>
          <a:solidFill>
            <a:schemeClr val="tx1"/>
          </a:solidFill>
          <a:ln/>
        </p:spPr>
      </p:sp>
      <p:pic>
        <p:nvPicPr>
          <p:cNvPr id="16" name="Image 2" descr="Orchestration">    </p:cNvPr>
          <p:cNvPicPr>
            <a:picLocks noChangeAspect="1"/>
          </p:cNvPicPr>
          <p:nvPr/>
        </p:nvPicPr>
        <p:blipFill>
          <a:blip r:embed="rId3"/>
          <a:stretch>
            <a:fillRect/>
          </a:stretch>
        </p:blipFill>
        <p:spPr>
          <a:xfrm>
            <a:off x="4882896" y="1325880"/>
            <a:ext cx="365760" cy="365760"/>
          </a:xfrm>
          <a:prstGeom prst="rect">
            <a:avLst/>
          </a:prstGeom>
        </p:spPr>
      </p:pic>
      <p:sp>
        <p:nvSpPr>
          <p:cNvPr id="17" name="Text 12"/>
          <p:cNvSpPr txBox="1"/>
          <p:nvPr/>
        </p:nvSpPr>
        <p:spPr>
          <a:xfrm>
            <a:off x="5340096" y="1143000"/>
            <a:ext cx="1188720" cy="731520"/>
          </a:xfrm>
          <a:prstGeom prst="rect">
            <a:avLst/>
          </a:prstGeom>
          <a:noFill/>
          <a:ln/>
        </p:spPr>
        <p:txBody>
          <a:bodyPr wrap="square" lIns="0" tIns="0" rIns="0" bIns="0" rtlCol="0" anchor="ctr"/>
          <a:lstStyle/>
          <a:p>
            <a:pPr indent="0" marL="0">
              <a:buNone/>
            </a:pPr>
            <a:r>
              <a:rPr lang="en-US" sz="1400" b="1" dirty="0">
                <a:solidFill>
                  <a:schemeClr val="bg1"/>
                </a:solidFill>
              </a:rPr>
              <a:t>Orchestration</a:t>
            </a:r>
            <a:endParaRPr lang="en-US" sz="1400" dirty="0"/>
          </a:p>
        </p:txBody>
      </p:sp>
      <p:sp>
        <p:nvSpPr>
          <p:cNvPr id="18" name="Layer body Orchestration"/>
          <p:cNvSpPr/>
          <p:nvPr/>
        </p:nvSpPr>
        <p:spPr>
          <a:xfrm>
            <a:off x="4718304" y="1874520"/>
            <a:ext cx="1828800" cy="1783080"/>
          </a:xfrm>
          <a:prstGeom prst="rect">
            <a:avLst/>
          </a:prstGeom>
          <a:solidFill>
            <a:schemeClr val="bg2"/>
          </a:solidFill>
          <a:ln/>
        </p:spPr>
      </p:sp>
      <p:sp>
        <p:nvSpPr>
          <p:cNvPr id="19" name="Text 14"/>
          <p:cNvSpPr txBox="1"/>
          <p:nvPr/>
        </p:nvSpPr>
        <p:spPr>
          <a:xfrm>
            <a:off x="4882896" y="2011680"/>
            <a:ext cx="155448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LangGraph StateGraph</a:t>
            </a:r>
            <a:endParaRPr lang="en-US" sz="1300" dirty="0"/>
          </a:p>
          <a:p>
            <a:pPr marL="342900" indent="-342900">
              <a:spcAft>
                <a:spcPts val="600"/>
              </a:spcAft>
              <a:buSzPct val="100000"/>
              <a:buChar char="•"/>
            </a:pPr>
            <a:r>
              <a:rPr lang="en-US" sz="1300" dirty="0">
                <a:solidFill>
                  <a:schemeClr val="tx1"/>
                </a:solidFill>
              </a:rPr>
              <a:t>5 agents, 2 feedback loops</a:t>
            </a:r>
            <a:endParaRPr lang="en-US" sz="1300" dirty="0"/>
          </a:p>
          <a:p>
            <a:pPr marL="342900" indent="-342900">
              <a:spcAft>
                <a:spcPts val="600"/>
              </a:spcAft>
              <a:buSzPct val="100000"/>
              <a:buChar char="•"/>
            </a:pPr>
            <a:r>
              <a:rPr lang="en-US" sz="1300" dirty="0">
                <a:solidFill>
                  <a:schemeClr val="tx1"/>
                </a:solidFill>
              </a:rPr>
              <a:t>Typed shared state</a:t>
            </a:r>
            <a:endParaRPr lang="en-US" sz="1300" dirty="0"/>
          </a:p>
        </p:txBody>
      </p:sp>
      <p:sp>
        <p:nvSpPr>
          <p:cNvPr id="20" name="Flow arrow 3"/>
          <p:cNvSpPr/>
          <p:nvPr/>
        </p:nvSpPr>
        <p:spPr>
          <a:xfrm>
            <a:off x="6583680" y="2651760"/>
            <a:ext cx="228600" cy="274320"/>
          </a:xfrm>
          <a:prstGeom prst="rightArrow">
            <a:avLst/>
          </a:prstGeom>
          <a:solidFill>
            <a:schemeClr val="accent1"/>
          </a:solidFill>
          <a:ln/>
        </p:spPr>
      </p:sp>
      <p:sp>
        <p:nvSpPr>
          <p:cNvPr id="21" name="Layer header Data"/>
          <p:cNvSpPr/>
          <p:nvPr/>
        </p:nvSpPr>
        <p:spPr>
          <a:xfrm>
            <a:off x="6848856" y="1143000"/>
            <a:ext cx="1828800" cy="731520"/>
          </a:xfrm>
          <a:prstGeom prst="rect">
            <a:avLst/>
          </a:prstGeom>
          <a:solidFill>
            <a:schemeClr val="tx1"/>
          </a:solidFill>
          <a:ln/>
        </p:spPr>
      </p:sp>
      <p:pic>
        <p:nvPicPr>
          <p:cNvPr id="22" name="Image 3" descr="Data">    </p:cNvPr>
          <p:cNvPicPr>
            <a:picLocks noChangeAspect="1"/>
          </p:cNvPicPr>
          <p:nvPr/>
        </p:nvPicPr>
        <p:blipFill>
          <a:blip r:embed="rId4"/>
          <a:stretch>
            <a:fillRect/>
          </a:stretch>
        </p:blipFill>
        <p:spPr>
          <a:xfrm>
            <a:off x="7013448" y="1325880"/>
            <a:ext cx="365760" cy="365760"/>
          </a:xfrm>
          <a:prstGeom prst="rect">
            <a:avLst/>
          </a:prstGeom>
        </p:spPr>
      </p:pic>
      <p:sp>
        <p:nvSpPr>
          <p:cNvPr id="23" name="Text 17"/>
          <p:cNvSpPr txBox="1"/>
          <p:nvPr/>
        </p:nvSpPr>
        <p:spPr>
          <a:xfrm>
            <a:off x="7470648" y="1143000"/>
            <a:ext cx="1188720" cy="731520"/>
          </a:xfrm>
          <a:prstGeom prst="rect">
            <a:avLst/>
          </a:prstGeom>
          <a:noFill/>
          <a:ln/>
        </p:spPr>
        <p:txBody>
          <a:bodyPr wrap="square" lIns="0" tIns="0" rIns="0" bIns="0" rtlCol="0" anchor="ctr"/>
          <a:lstStyle/>
          <a:p>
            <a:pPr indent="0" marL="0">
              <a:buNone/>
            </a:pPr>
            <a:r>
              <a:rPr lang="en-US" sz="1400" b="1" dirty="0">
                <a:solidFill>
                  <a:schemeClr val="bg1"/>
                </a:solidFill>
              </a:rPr>
              <a:t>Data</a:t>
            </a:r>
            <a:endParaRPr lang="en-US" sz="1400" dirty="0"/>
          </a:p>
        </p:txBody>
      </p:sp>
      <p:sp>
        <p:nvSpPr>
          <p:cNvPr id="24" name="Layer body Data"/>
          <p:cNvSpPr/>
          <p:nvPr/>
        </p:nvSpPr>
        <p:spPr>
          <a:xfrm>
            <a:off x="6848856" y="1874520"/>
            <a:ext cx="1828800" cy="1783080"/>
          </a:xfrm>
          <a:prstGeom prst="rect">
            <a:avLst/>
          </a:prstGeom>
          <a:solidFill>
            <a:schemeClr val="bg2"/>
          </a:solidFill>
          <a:ln/>
        </p:spPr>
      </p:sp>
      <p:sp>
        <p:nvSpPr>
          <p:cNvPr id="25" name="Text 19"/>
          <p:cNvSpPr txBox="1"/>
          <p:nvPr/>
        </p:nvSpPr>
        <p:spPr>
          <a:xfrm>
            <a:off x="7013448" y="2011680"/>
            <a:ext cx="155448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Qdrant: 3 collections</a:t>
            </a:r>
            <a:endParaRPr lang="en-US" sz="1300" dirty="0"/>
          </a:p>
          <a:p>
            <a:pPr marL="342900" indent="-342900">
              <a:spcAft>
                <a:spcPts val="600"/>
              </a:spcAft>
              <a:buSzPct val="100000"/>
              <a:buChar char="•"/>
            </a:pPr>
            <a:r>
              <a:rPr lang="en-US" sz="1300" dirty="0">
                <a:solidFill>
                  <a:schemeClr val="tx1"/>
                </a:solidFill>
              </a:rPr>
              <a:t>PostgreSQL / SQLite</a:t>
            </a:r>
            <a:endParaRPr lang="en-US" sz="1300" dirty="0"/>
          </a:p>
          <a:p>
            <a:pPr marL="342900" indent="-342900">
              <a:spcAft>
                <a:spcPts val="600"/>
              </a:spcAft>
              <a:buSzPct val="100000"/>
              <a:buChar char="•"/>
            </a:pPr>
            <a:r>
              <a:rPr lang="en-US" sz="1300" dirty="0">
                <a:solidFill>
                  <a:schemeClr val="tx1"/>
                </a:solidFill>
              </a:rPr>
              <a:t>Redis pub/sub traces</a:t>
            </a:r>
            <a:endParaRPr lang="en-US" sz="1300" dirty="0"/>
          </a:p>
        </p:txBody>
      </p:sp>
      <p:sp>
        <p:nvSpPr>
          <p:cNvPr id="26" name="Request flow strip"/>
          <p:cNvSpPr/>
          <p:nvPr/>
        </p:nvSpPr>
        <p:spPr>
          <a:xfrm>
            <a:off x="457200" y="3886200"/>
            <a:ext cx="8229600" cy="685800"/>
          </a:xfrm>
          <a:prstGeom prst="roundRect">
            <a:avLst>
              <a:gd name="adj" fmla="val 10667"/>
            </a:avLst>
          </a:prstGeom>
          <a:solidFill>
            <a:schemeClr val="tx2"/>
          </a:solidFill>
          <a:ln/>
        </p:spPr>
      </p:sp>
      <p:sp>
        <p:nvSpPr>
          <p:cNvPr id="27" name="Text 21"/>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1300" b="1" dirty="0">
                <a:solidFill>
                  <a:schemeClr val="accent1"/>
                </a:solidFill>
              </a:rPr>
              <a:t>Request flow:  </a:t>
            </a:r>
            <a:pPr indent="0" marL="0">
              <a:buNone/>
            </a:pPr>
            <a:r>
              <a:rPr lang="en-US" sz="1300" dirty="0">
                <a:solidFill>
                  <a:schemeClr val="bg1"/>
                </a:solidFill>
              </a:rPr>
              <a:t>Claim (EN/TA)  →  POST /claims  →  5-agent graph  →  Redis trace  →  SSE live view  →  verdict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Five specialised agents, two adaptive loops</a:t>
            </a:r>
            <a:endParaRPr lang="en-US" sz="2800" dirty="0"/>
          </a:p>
        </p:txBody>
      </p:sp>
      <p:sp>
        <p:nvSpPr>
          <p:cNvPr id="3" name="Agent card Normalizer"/>
          <p:cNvSpPr/>
          <p:nvPr/>
        </p:nvSpPr>
        <p:spPr>
          <a:xfrm>
            <a:off x="457200" y="1097280"/>
            <a:ext cx="1517904" cy="2331720"/>
          </a:xfrm>
          <a:prstGeom prst="roundRect">
            <a:avLst>
              <a:gd name="adj" fmla="val 4819"/>
            </a:avLst>
          </a:prstGeom>
          <a:solidFill>
            <a:schemeClr val="bg2"/>
          </a:solidFill>
          <a:ln/>
          <a:effectLst>
            <a:outerShdw sx="100000" sy="100000" kx="0" ky="0" algn="bl" rotWithShape="0" blurRad="76200" dist="25400" dir="5400000">
              <a:srgbClr val="000000">
                <a:alpha val="12000"/>
              </a:srgbClr>
            </a:outerShdw>
          </a:effectLst>
        </p:spPr>
      </p:sp>
      <p:sp>
        <p:nvSpPr>
          <p:cNvPr id="4" name="Step 1"/>
          <p:cNvSpPr/>
          <p:nvPr/>
        </p:nvSpPr>
        <p:spPr>
          <a:xfrm>
            <a:off x="594360" y="1234440"/>
            <a:ext cx="347472" cy="347472"/>
          </a:xfrm>
          <a:prstGeom prst="ellipse">
            <a:avLst/>
          </a:prstGeom>
          <a:solidFill>
            <a:schemeClr val="accent1"/>
          </a:solidFill>
          <a:ln/>
        </p:spPr>
      </p:sp>
      <p:sp>
        <p:nvSpPr>
          <p:cNvPr id="5" name="Text 3"/>
          <p:cNvSpPr txBox="1"/>
          <p:nvPr/>
        </p:nvSpPr>
        <p:spPr>
          <a:xfrm>
            <a:off x="594360" y="123444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4"/>
          <p:cNvSpPr txBox="1"/>
          <p:nvPr/>
        </p:nvSpPr>
        <p:spPr>
          <a:xfrm>
            <a:off x="594360" y="164592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Normalizer</a:t>
            </a:r>
            <a:endParaRPr lang="en-US" sz="1400" dirty="0"/>
          </a:p>
        </p:txBody>
      </p:sp>
      <p:sp>
        <p:nvSpPr>
          <p:cNvPr id="7" name="Text 5"/>
          <p:cNvSpPr txBox="1"/>
          <p:nvPr/>
        </p:nvSpPr>
        <p:spPr>
          <a:xfrm>
            <a:off x="594360" y="1938528"/>
            <a:ext cx="1280160" cy="868680"/>
          </a:xfrm>
          <a:prstGeom prst="rect">
            <a:avLst/>
          </a:prstGeom>
          <a:noFill/>
          <a:ln/>
        </p:spPr>
        <p:txBody>
          <a:bodyPr wrap="square" lIns="0" tIns="0" rIns="0" bIns="0" rtlCol="0" anchor="t"/>
          <a:lstStyle/>
          <a:p>
            <a:pPr indent="0" marL="0">
              <a:buNone/>
            </a:pPr>
            <a:r>
              <a:rPr lang="en-US" sz="1100" dirty="0">
                <a:solidFill>
                  <a:schemeClr val="tx2"/>
                </a:solidFill>
              </a:rPr>
              <a:t>Detects EN/TA and extracts the ticker from a 14-company alias dictionary.</a:t>
            </a:r>
            <a:endParaRPr lang="en-US" sz="1100" dirty="0"/>
          </a:p>
        </p:txBody>
      </p:sp>
      <p:sp>
        <p:nvSpPr>
          <p:cNvPr id="8" name="Text 6"/>
          <p:cNvSpPr txBox="1"/>
          <p:nvPr/>
        </p:nvSpPr>
        <p:spPr>
          <a:xfrm>
            <a:off x="594360" y="2834640"/>
            <a:ext cx="1280160" cy="182880"/>
          </a:xfrm>
          <a:prstGeom prst="rect">
            <a:avLst/>
          </a:prstGeom>
          <a:noFill/>
          <a:ln/>
        </p:spPr>
        <p:txBody>
          <a:bodyPr wrap="square" lIns="0" tIns="0" rIns="0" bIns="0" rtlCol="0" anchor="ctr"/>
          <a:lstStyle/>
          <a:p>
            <a:pPr indent="0" marL="0">
              <a:buNone/>
            </a:pPr>
            <a:r>
              <a:rPr lang="en-US" sz="1000" b="1" spc="200" kern="0" dirty="0">
                <a:solidFill>
                  <a:schemeClr val="accent2"/>
                </a:solidFill>
              </a:rPr>
              <a:t>METHOD</a:t>
            </a:r>
            <a:endParaRPr lang="en-US" sz="1000" dirty="0"/>
          </a:p>
        </p:txBody>
      </p:sp>
      <p:sp>
        <p:nvSpPr>
          <p:cNvPr id="9" name="Text 7"/>
          <p:cNvSpPr txBox="1"/>
          <p:nvPr/>
        </p:nvSpPr>
        <p:spPr>
          <a:xfrm>
            <a:off x="594360" y="3017520"/>
            <a:ext cx="1280160" cy="365760"/>
          </a:xfrm>
          <a:prstGeom prst="rect">
            <a:avLst/>
          </a:prstGeom>
          <a:noFill/>
          <a:ln/>
        </p:spPr>
        <p:txBody>
          <a:bodyPr wrap="square" lIns="0" tIns="0" rIns="0" bIns="0" rtlCol="0" anchor="t"/>
          <a:lstStyle/>
          <a:p>
            <a:pPr indent="0" marL="0">
              <a:buNone/>
            </a:pPr>
            <a:r>
              <a:rPr lang="en-US" sz="1100" b="1" dirty="0">
                <a:solidFill>
                  <a:schemeClr val="tx1"/>
                </a:solidFill>
              </a:rPr>
              <a:t>Rule-based NLP (regex + Unicode)</a:t>
            </a:r>
            <a:endParaRPr lang="en-US" sz="1100" dirty="0"/>
          </a:p>
        </p:txBody>
      </p:sp>
      <p:sp>
        <p:nvSpPr>
          <p:cNvPr id="10" name="Agent card Trust-Tier"/>
          <p:cNvSpPr/>
          <p:nvPr/>
        </p:nvSpPr>
        <p:spPr>
          <a:xfrm>
            <a:off x="2135124" y="1097280"/>
            <a:ext cx="1517904" cy="2331720"/>
          </a:xfrm>
          <a:prstGeom prst="roundRect">
            <a:avLst>
              <a:gd name="adj" fmla="val 4819"/>
            </a:avLst>
          </a:prstGeom>
          <a:solidFill>
            <a:schemeClr val="bg2"/>
          </a:solidFill>
          <a:ln/>
          <a:effectLst>
            <a:outerShdw sx="100000" sy="100000" kx="0" ky="0" algn="bl" rotWithShape="0" blurRad="76200" dist="25400" dir="5400000">
              <a:srgbClr val="000000">
                <a:alpha val="12000"/>
              </a:srgbClr>
            </a:outerShdw>
          </a:effectLst>
        </p:spPr>
      </p:sp>
      <p:sp>
        <p:nvSpPr>
          <p:cNvPr id="11" name="Step 2"/>
          <p:cNvSpPr/>
          <p:nvPr/>
        </p:nvSpPr>
        <p:spPr>
          <a:xfrm>
            <a:off x="2272284" y="1234440"/>
            <a:ext cx="347472" cy="347472"/>
          </a:xfrm>
          <a:prstGeom prst="ellipse">
            <a:avLst/>
          </a:prstGeom>
          <a:solidFill>
            <a:schemeClr val="accent1"/>
          </a:solidFill>
          <a:ln/>
        </p:spPr>
      </p:sp>
      <p:sp>
        <p:nvSpPr>
          <p:cNvPr id="12" name="Text 10"/>
          <p:cNvSpPr txBox="1"/>
          <p:nvPr/>
        </p:nvSpPr>
        <p:spPr>
          <a:xfrm>
            <a:off x="2272284" y="123444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Text 11"/>
          <p:cNvSpPr txBox="1"/>
          <p:nvPr/>
        </p:nvSpPr>
        <p:spPr>
          <a:xfrm>
            <a:off x="2272284" y="164592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Trust-Tier</a:t>
            </a:r>
            <a:endParaRPr lang="en-US" sz="1400" dirty="0"/>
          </a:p>
        </p:txBody>
      </p:sp>
      <p:sp>
        <p:nvSpPr>
          <p:cNvPr id="14" name="Text 12"/>
          <p:cNvSpPr txBox="1"/>
          <p:nvPr/>
        </p:nvSpPr>
        <p:spPr>
          <a:xfrm>
            <a:off x="2272284" y="1938528"/>
            <a:ext cx="1280160" cy="868680"/>
          </a:xfrm>
          <a:prstGeom prst="rect">
            <a:avLst/>
          </a:prstGeom>
          <a:noFill/>
          <a:ln/>
        </p:spPr>
        <p:txBody>
          <a:bodyPr wrap="square" lIns="0" tIns="0" rIns="0" bIns="0" rtlCol="0" anchor="t"/>
          <a:lstStyle/>
          <a:p>
            <a:pPr indent="0" marL="0">
              <a:buNone/>
            </a:pPr>
            <a:r>
              <a:rPr lang="en-US" sz="1100" dirty="0">
                <a:solidFill>
                  <a:schemeClr val="tx2"/>
                </a:solidFill>
              </a:rPr>
              <a:t>Scores the source, not the claim, from its past track record.</a:t>
            </a:r>
            <a:endParaRPr lang="en-US" sz="1100" dirty="0"/>
          </a:p>
        </p:txBody>
      </p:sp>
      <p:sp>
        <p:nvSpPr>
          <p:cNvPr id="15" name="Text 13"/>
          <p:cNvSpPr txBox="1"/>
          <p:nvPr/>
        </p:nvSpPr>
        <p:spPr>
          <a:xfrm>
            <a:off x="2272284" y="2834640"/>
            <a:ext cx="1280160" cy="182880"/>
          </a:xfrm>
          <a:prstGeom prst="rect">
            <a:avLst/>
          </a:prstGeom>
          <a:noFill/>
          <a:ln/>
        </p:spPr>
        <p:txBody>
          <a:bodyPr wrap="square" lIns="0" tIns="0" rIns="0" bIns="0" rtlCol="0" anchor="ctr"/>
          <a:lstStyle/>
          <a:p>
            <a:pPr indent="0" marL="0">
              <a:buNone/>
            </a:pPr>
            <a:r>
              <a:rPr lang="en-US" sz="1000" b="1" spc="200" kern="0" dirty="0">
                <a:solidFill>
                  <a:schemeClr val="accent2"/>
                </a:solidFill>
              </a:rPr>
              <a:t>METHOD</a:t>
            </a:r>
            <a:endParaRPr lang="en-US" sz="1000" dirty="0"/>
          </a:p>
        </p:txBody>
      </p:sp>
      <p:sp>
        <p:nvSpPr>
          <p:cNvPr id="16" name="Text 14"/>
          <p:cNvSpPr txBox="1"/>
          <p:nvPr/>
        </p:nvSpPr>
        <p:spPr>
          <a:xfrm>
            <a:off x="2272284" y="3017520"/>
            <a:ext cx="1280160" cy="365760"/>
          </a:xfrm>
          <a:prstGeom prst="rect">
            <a:avLst/>
          </a:prstGeom>
          <a:noFill/>
          <a:ln/>
        </p:spPr>
        <p:txBody>
          <a:bodyPr wrap="square" lIns="0" tIns="0" rIns="0" bIns="0" rtlCol="0" anchor="t"/>
          <a:lstStyle/>
          <a:p>
            <a:pPr indent="0" marL="0">
              <a:buNone/>
            </a:pPr>
            <a:r>
              <a:rPr lang="en-US" sz="1100" b="1" dirty="0">
                <a:solidFill>
                  <a:schemeClr val="tx1"/>
                </a:solidFill>
              </a:rPr>
              <a:t>Qdrant lookup + Bayesian smoothing</a:t>
            </a:r>
            <a:endParaRPr lang="en-US" sz="1100" dirty="0"/>
          </a:p>
        </p:txBody>
      </p:sp>
      <p:sp>
        <p:nvSpPr>
          <p:cNvPr id="17" name="Agent card Verification"/>
          <p:cNvSpPr/>
          <p:nvPr/>
        </p:nvSpPr>
        <p:spPr>
          <a:xfrm>
            <a:off x="3813048" y="1097280"/>
            <a:ext cx="1517904" cy="2331720"/>
          </a:xfrm>
          <a:prstGeom prst="roundRect">
            <a:avLst>
              <a:gd name="adj" fmla="val 4819"/>
            </a:avLst>
          </a:prstGeom>
          <a:solidFill>
            <a:schemeClr val="bg2"/>
          </a:solidFill>
          <a:ln/>
          <a:effectLst>
            <a:outerShdw sx="100000" sy="100000" kx="0" ky="0" algn="bl" rotWithShape="0" blurRad="76200" dist="25400" dir="5400000">
              <a:srgbClr val="000000">
                <a:alpha val="12000"/>
              </a:srgbClr>
            </a:outerShdw>
          </a:effectLst>
        </p:spPr>
      </p:sp>
      <p:sp>
        <p:nvSpPr>
          <p:cNvPr id="18" name="Step 3"/>
          <p:cNvSpPr/>
          <p:nvPr/>
        </p:nvSpPr>
        <p:spPr>
          <a:xfrm>
            <a:off x="3950208" y="1234440"/>
            <a:ext cx="347472" cy="347472"/>
          </a:xfrm>
          <a:prstGeom prst="ellipse">
            <a:avLst/>
          </a:prstGeom>
          <a:solidFill>
            <a:schemeClr val="accent1"/>
          </a:solidFill>
          <a:ln/>
        </p:spPr>
      </p:sp>
      <p:sp>
        <p:nvSpPr>
          <p:cNvPr id="19" name="Text 17"/>
          <p:cNvSpPr txBox="1"/>
          <p:nvPr/>
        </p:nvSpPr>
        <p:spPr>
          <a:xfrm>
            <a:off x="3950208" y="123444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Text 18"/>
          <p:cNvSpPr txBox="1"/>
          <p:nvPr/>
        </p:nvSpPr>
        <p:spPr>
          <a:xfrm>
            <a:off x="3950208" y="164592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Verification</a:t>
            </a:r>
            <a:endParaRPr lang="en-US" sz="1400" dirty="0"/>
          </a:p>
        </p:txBody>
      </p:sp>
      <p:sp>
        <p:nvSpPr>
          <p:cNvPr id="21" name="Text 19"/>
          <p:cNvSpPr txBox="1"/>
          <p:nvPr/>
        </p:nvSpPr>
        <p:spPr>
          <a:xfrm>
            <a:off x="3950208" y="1938528"/>
            <a:ext cx="1280160" cy="868680"/>
          </a:xfrm>
          <a:prstGeom prst="rect">
            <a:avLst/>
          </a:prstGeom>
          <a:noFill/>
          <a:ln/>
        </p:spPr>
        <p:txBody>
          <a:bodyPr wrap="square" lIns="0" tIns="0" rIns="0" bIns="0" rtlCol="0" anchor="t"/>
          <a:lstStyle/>
          <a:p>
            <a:pPr indent="0" marL="0">
              <a:buNone/>
            </a:pPr>
            <a:r>
              <a:rPr lang="en-US" sz="1100" dirty="0">
                <a:solidFill>
                  <a:schemeClr val="tx2"/>
                </a:solidFill>
              </a:rPr>
              <a:t>Matches the claim to SEBI/BSE filings and flags official denials.</a:t>
            </a:r>
            <a:endParaRPr lang="en-US" sz="1100" dirty="0"/>
          </a:p>
        </p:txBody>
      </p:sp>
      <p:sp>
        <p:nvSpPr>
          <p:cNvPr id="22" name="Text 20"/>
          <p:cNvSpPr txBox="1"/>
          <p:nvPr/>
        </p:nvSpPr>
        <p:spPr>
          <a:xfrm>
            <a:off x="3950208" y="2834640"/>
            <a:ext cx="1280160" cy="182880"/>
          </a:xfrm>
          <a:prstGeom prst="rect">
            <a:avLst/>
          </a:prstGeom>
          <a:noFill/>
          <a:ln/>
        </p:spPr>
        <p:txBody>
          <a:bodyPr wrap="square" lIns="0" tIns="0" rIns="0" bIns="0" rtlCol="0" anchor="ctr"/>
          <a:lstStyle/>
          <a:p>
            <a:pPr indent="0" marL="0">
              <a:buNone/>
            </a:pPr>
            <a:r>
              <a:rPr lang="en-US" sz="1000" b="1" spc="200" kern="0" dirty="0">
                <a:solidFill>
                  <a:schemeClr val="accent2"/>
                </a:solidFill>
              </a:rPr>
              <a:t>METHOD</a:t>
            </a:r>
            <a:endParaRPr lang="en-US" sz="1000" dirty="0"/>
          </a:p>
        </p:txBody>
      </p:sp>
      <p:sp>
        <p:nvSpPr>
          <p:cNvPr id="23" name="Text 21"/>
          <p:cNvSpPr txBox="1"/>
          <p:nvPr/>
        </p:nvSpPr>
        <p:spPr>
          <a:xfrm>
            <a:off x="3950208" y="3017520"/>
            <a:ext cx="1280160" cy="365760"/>
          </a:xfrm>
          <a:prstGeom prst="rect">
            <a:avLst/>
          </a:prstGeom>
          <a:noFill/>
          <a:ln/>
        </p:spPr>
        <p:txBody>
          <a:bodyPr wrap="square" lIns="0" tIns="0" rIns="0" bIns="0" rtlCol="0" anchor="t"/>
          <a:lstStyle/>
          <a:p>
            <a:pPr indent="0" marL="0">
              <a:buNone/>
            </a:pPr>
            <a:r>
              <a:rPr lang="en-US" sz="1100" b="1" dirty="0">
                <a:solidFill>
                  <a:schemeClr val="tx1"/>
                </a:solidFill>
              </a:rPr>
              <a:t>Cosine search, standard or deep</a:t>
            </a:r>
            <a:endParaRPr lang="en-US" sz="1100" dirty="0"/>
          </a:p>
        </p:txBody>
      </p:sp>
      <p:sp>
        <p:nvSpPr>
          <p:cNvPr id="24" name="Agent card Sentiment"/>
          <p:cNvSpPr/>
          <p:nvPr/>
        </p:nvSpPr>
        <p:spPr>
          <a:xfrm>
            <a:off x="5490972" y="1097280"/>
            <a:ext cx="1517904" cy="2331720"/>
          </a:xfrm>
          <a:prstGeom prst="roundRect">
            <a:avLst>
              <a:gd name="adj" fmla="val 4819"/>
            </a:avLst>
          </a:prstGeom>
          <a:solidFill>
            <a:schemeClr val="bg2"/>
          </a:solidFill>
          <a:ln/>
          <a:effectLst>
            <a:outerShdw sx="100000" sy="100000" kx="0" ky="0" algn="bl" rotWithShape="0" blurRad="76200" dist="25400" dir="5400000">
              <a:srgbClr val="000000">
                <a:alpha val="12000"/>
              </a:srgbClr>
            </a:outerShdw>
          </a:effectLst>
        </p:spPr>
      </p:sp>
      <p:sp>
        <p:nvSpPr>
          <p:cNvPr id="25" name="Step 4"/>
          <p:cNvSpPr/>
          <p:nvPr/>
        </p:nvSpPr>
        <p:spPr>
          <a:xfrm>
            <a:off x="5628132" y="1234440"/>
            <a:ext cx="347472" cy="347472"/>
          </a:xfrm>
          <a:prstGeom prst="ellipse">
            <a:avLst/>
          </a:prstGeom>
          <a:solidFill>
            <a:schemeClr val="accent1"/>
          </a:solidFill>
          <a:ln/>
        </p:spPr>
      </p:sp>
      <p:sp>
        <p:nvSpPr>
          <p:cNvPr id="26" name="Text 24"/>
          <p:cNvSpPr txBox="1"/>
          <p:nvPr/>
        </p:nvSpPr>
        <p:spPr>
          <a:xfrm>
            <a:off x="5628132" y="123444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7" name="Text 25"/>
          <p:cNvSpPr txBox="1"/>
          <p:nvPr/>
        </p:nvSpPr>
        <p:spPr>
          <a:xfrm>
            <a:off x="5628132" y="164592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Sentiment</a:t>
            </a:r>
            <a:endParaRPr lang="en-US" sz="1400" dirty="0"/>
          </a:p>
        </p:txBody>
      </p:sp>
      <p:sp>
        <p:nvSpPr>
          <p:cNvPr id="28" name="Text 26"/>
          <p:cNvSpPr txBox="1"/>
          <p:nvPr/>
        </p:nvSpPr>
        <p:spPr>
          <a:xfrm>
            <a:off x="5628132" y="1938528"/>
            <a:ext cx="1280160" cy="868680"/>
          </a:xfrm>
          <a:prstGeom prst="rect">
            <a:avLst/>
          </a:prstGeom>
          <a:noFill/>
          <a:ln/>
        </p:spPr>
        <p:txBody>
          <a:bodyPr wrap="square" lIns="0" tIns="0" rIns="0" bIns="0" rtlCol="0" anchor="t"/>
          <a:lstStyle/>
          <a:p>
            <a:pPr indent="0" marL="0">
              <a:buNone/>
            </a:pPr>
            <a:r>
              <a:rPr lang="en-US" sz="1100" dirty="0">
                <a:solidFill>
                  <a:schemeClr val="tx2"/>
                </a:solidFill>
              </a:rPr>
              <a:t>Labels tone and estimates price lead-lag vs. filing.</a:t>
            </a:r>
            <a:endParaRPr lang="en-US" sz="1100" dirty="0"/>
          </a:p>
        </p:txBody>
      </p:sp>
      <p:sp>
        <p:nvSpPr>
          <p:cNvPr id="29" name="Text 27"/>
          <p:cNvSpPr txBox="1"/>
          <p:nvPr/>
        </p:nvSpPr>
        <p:spPr>
          <a:xfrm>
            <a:off x="5628132" y="2834640"/>
            <a:ext cx="1280160" cy="182880"/>
          </a:xfrm>
          <a:prstGeom prst="rect">
            <a:avLst/>
          </a:prstGeom>
          <a:noFill/>
          <a:ln/>
        </p:spPr>
        <p:txBody>
          <a:bodyPr wrap="square" lIns="0" tIns="0" rIns="0" bIns="0" rtlCol="0" anchor="ctr"/>
          <a:lstStyle/>
          <a:p>
            <a:pPr indent="0" marL="0">
              <a:buNone/>
            </a:pPr>
            <a:r>
              <a:rPr lang="en-US" sz="1000" b="1" spc="200" kern="0" dirty="0">
                <a:solidFill>
                  <a:schemeClr val="accent2"/>
                </a:solidFill>
              </a:rPr>
              <a:t>METHOD</a:t>
            </a:r>
            <a:endParaRPr lang="en-US" sz="1000" dirty="0"/>
          </a:p>
        </p:txBody>
      </p:sp>
      <p:sp>
        <p:nvSpPr>
          <p:cNvPr id="30" name="Text 28"/>
          <p:cNvSpPr txBox="1"/>
          <p:nvPr/>
        </p:nvSpPr>
        <p:spPr>
          <a:xfrm>
            <a:off x="5628132" y="3017520"/>
            <a:ext cx="1280160" cy="365760"/>
          </a:xfrm>
          <a:prstGeom prst="rect">
            <a:avLst/>
          </a:prstGeom>
          <a:noFill/>
          <a:ln/>
        </p:spPr>
        <p:txBody>
          <a:bodyPr wrap="square" lIns="0" tIns="0" rIns="0" bIns="0" rtlCol="0" anchor="t"/>
          <a:lstStyle/>
          <a:p>
            <a:pPr indent="0" marL="0">
              <a:buNone/>
            </a:pPr>
            <a:r>
              <a:rPr lang="en-US" sz="1100" b="1" dirty="0">
                <a:solidFill>
                  <a:schemeClr val="tx1"/>
                </a:solidFill>
              </a:rPr>
              <a:t>Retrieval-grounded classification</a:t>
            </a:r>
            <a:endParaRPr lang="en-US" sz="1100" dirty="0"/>
          </a:p>
        </p:txBody>
      </p:sp>
      <p:sp>
        <p:nvSpPr>
          <p:cNvPr id="31" name="Agent card Aggregator"/>
          <p:cNvSpPr/>
          <p:nvPr/>
        </p:nvSpPr>
        <p:spPr>
          <a:xfrm>
            <a:off x="7168896" y="1097280"/>
            <a:ext cx="1517904" cy="2331720"/>
          </a:xfrm>
          <a:prstGeom prst="roundRect">
            <a:avLst>
              <a:gd name="adj" fmla="val 4819"/>
            </a:avLst>
          </a:prstGeom>
          <a:solidFill>
            <a:schemeClr val="bg2"/>
          </a:solidFill>
          <a:ln/>
          <a:effectLst>
            <a:outerShdw sx="100000" sy="100000" kx="0" ky="0" algn="bl" rotWithShape="0" blurRad="76200" dist="25400" dir="5400000">
              <a:srgbClr val="000000">
                <a:alpha val="12000"/>
              </a:srgbClr>
            </a:outerShdw>
          </a:effectLst>
        </p:spPr>
      </p:sp>
      <p:sp>
        <p:nvSpPr>
          <p:cNvPr id="32" name="Step 5"/>
          <p:cNvSpPr/>
          <p:nvPr/>
        </p:nvSpPr>
        <p:spPr>
          <a:xfrm>
            <a:off x="7306056" y="1234440"/>
            <a:ext cx="347472" cy="347472"/>
          </a:xfrm>
          <a:prstGeom prst="ellipse">
            <a:avLst/>
          </a:prstGeom>
          <a:solidFill>
            <a:schemeClr val="accent1"/>
          </a:solidFill>
          <a:ln/>
        </p:spPr>
      </p:sp>
      <p:sp>
        <p:nvSpPr>
          <p:cNvPr id="33" name="Text 31"/>
          <p:cNvSpPr txBox="1"/>
          <p:nvPr/>
        </p:nvSpPr>
        <p:spPr>
          <a:xfrm>
            <a:off x="7306056" y="123444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4" name="Text 32"/>
          <p:cNvSpPr txBox="1"/>
          <p:nvPr/>
        </p:nvSpPr>
        <p:spPr>
          <a:xfrm>
            <a:off x="7306056" y="164592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Aggregator</a:t>
            </a:r>
            <a:endParaRPr lang="en-US" sz="1400" dirty="0"/>
          </a:p>
        </p:txBody>
      </p:sp>
      <p:sp>
        <p:nvSpPr>
          <p:cNvPr id="35" name="Text 33"/>
          <p:cNvSpPr txBox="1"/>
          <p:nvPr/>
        </p:nvSpPr>
        <p:spPr>
          <a:xfrm>
            <a:off x="7306056" y="1938528"/>
            <a:ext cx="1280160" cy="868680"/>
          </a:xfrm>
          <a:prstGeom prst="rect">
            <a:avLst/>
          </a:prstGeom>
          <a:noFill/>
          <a:ln/>
        </p:spPr>
        <p:txBody>
          <a:bodyPr wrap="square" lIns="0" tIns="0" rIns="0" bIns="0" rtlCol="0" anchor="t"/>
          <a:lstStyle/>
          <a:p>
            <a:pPr indent="0" marL="0">
              <a:buNone/>
            </a:pPr>
            <a:r>
              <a:rPr lang="en-US" sz="1100" dirty="0">
                <a:solidFill>
                  <a:schemeClr val="tx2"/>
                </a:solidFill>
              </a:rPr>
              <a:t>Fuses all signals into a verdict, confidence and citations.</a:t>
            </a:r>
            <a:endParaRPr lang="en-US" sz="1100" dirty="0"/>
          </a:p>
        </p:txBody>
      </p:sp>
      <p:sp>
        <p:nvSpPr>
          <p:cNvPr id="36" name="Text 34"/>
          <p:cNvSpPr txBox="1"/>
          <p:nvPr/>
        </p:nvSpPr>
        <p:spPr>
          <a:xfrm>
            <a:off x="7306056" y="2834640"/>
            <a:ext cx="1280160" cy="182880"/>
          </a:xfrm>
          <a:prstGeom prst="rect">
            <a:avLst/>
          </a:prstGeom>
          <a:noFill/>
          <a:ln/>
        </p:spPr>
        <p:txBody>
          <a:bodyPr wrap="square" lIns="0" tIns="0" rIns="0" bIns="0" rtlCol="0" anchor="ctr"/>
          <a:lstStyle/>
          <a:p>
            <a:pPr indent="0" marL="0">
              <a:buNone/>
            </a:pPr>
            <a:r>
              <a:rPr lang="en-US" sz="1000" b="1" spc="200" kern="0" dirty="0">
                <a:solidFill>
                  <a:schemeClr val="accent2"/>
                </a:solidFill>
              </a:rPr>
              <a:t>METHOD</a:t>
            </a:r>
            <a:endParaRPr lang="en-US" sz="1000" dirty="0"/>
          </a:p>
        </p:txBody>
      </p:sp>
      <p:sp>
        <p:nvSpPr>
          <p:cNvPr id="37" name="Text 35"/>
          <p:cNvSpPr txBox="1"/>
          <p:nvPr/>
        </p:nvSpPr>
        <p:spPr>
          <a:xfrm>
            <a:off x="7306056" y="3017520"/>
            <a:ext cx="1280160" cy="365760"/>
          </a:xfrm>
          <a:prstGeom prst="rect">
            <a:avLst/>
          </a:prstGeom>
          <a:noFill/>
          <a:ln/>
        </p:spPr>
        <p:txBody>
          <a:bodyPr wrap="square" lIns="0" tIns="0" rIns="0" bIns="0" rtlCol="0" anchor="t"/>
          <a:lstStyle/>
          <a:p>
            <a:pPr indent="0" marL="0">
              <a:buNone/>
            </a:pPr>
            <a:r>
              <a:rPr lang="en-US" sz="1100" b="1" dirty="0">
                <a:solidFill>
                  <a:schemeClr val="tx1"/>
                </a:solidFill>
              </a:rPr>
              <a:t>Rule-based decision matrix</a:t>
            </a:r>
            <a:endParaRPr lang="en-US" sz="1100" dirty="0"/>
          </a:p>
        </p:txBody>
      </p:sp>
      <p:sp>
        <p:nvSpPr>
          <p:cNvPr id="38" name="Routing rule 1"/>
          <p:cNvSpPr/>
          <p:nvPr/>
        </p:nvSpPr>
        <p:spPr>
          <a:xfrm>
            <a:off x="457200" y="3611880"/>
            <a:ext cx="3995928" cy="1005840"/>
          </a:xfrm>
          <a:prstGeom prst="roundRect">
            <a:avLst>
              <a:gd name="adj" fmla="val 7273"/>
            </a:avLst>
          </a:prstGeom>
          <a:solidFill>
            <a:schemeClr val="tx1"/>
          </a:solidFill>
          <a:ln/>
        </p:spPr>
      </p:sp>
      <p:sp>
        <p:nvSpPr>
          <p:cNvPr id="39" name="Text 37"/>
          <p:cNvSpPr txBox="1"/>
          <p:nvPr/>
        </p:nvSpPr>
        <p:spPr>
          <a:xfrm>
            <a:off x="640080" y="3703320"/>
            <a:ext cx="36576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LOOP 1 · TRUST ROUTING</a:t>
            </a:r>
            <a:endParaRPr lang="en-US" sz="1100" dirty="0"/>
          </a:p>
        </p:txBody>
      </p:sp>
      <p:sp>
        <p:nvSpPr>
          <p:cNvPr id="40" name="Text 38"/>
          <p:cNvSpPr txBox="1"/>
          <p:nvPr/>
        </p:nvSpPr>
        <p:spPr>
          <a:xfrm>
            <a:off x="640080" y="3950208"/>
            <a:ext cx="3657600" cy="594360"/>
          </a:xfrm>
          <a:prstGeom prst="rect">
            <a:avLst/>
          </a:prstGeom>
          <a:noFill/>
          <a:ln/>
        </p:spPr>
        <p:txBody>
          <a:bodyPr wrap="square" lIns="0" tIns="0" rIns="0" bIns="0" rtlCol="0" anchor="t"/>
          <a:lstStyle/>
          <a:p>
            <a:pPr indent="0" marL="0">
              <a:buNone/>
            </a:pPr>
            <a:r>
              <a:rPr lang="en-US" sz="1200" dirty="0">
                <a:solidFill>
                  <a:schemeClr val="bg1"/>
                </a:solidFill>
              </a:rPr>
              <a:t>Trust ≤ 0.40 or LOW confidence → deep search (k=7, score ≥ 0.45). Otherwise standard (k=3, score ≥ 0.65).</a:t>
            </a:r>
            <a:endParaRPr lang="en-US" sz="1200" dirty="0"/>
          </a:p>
        </p:txBody>
      </p:sp>
      <p:sp>
        <p:nvSpPr>
          <p:cNvPr id="41" name="Routing rule 2"/>
          <p:cNvSpPr/>
          <p:nvPr/>
        </p:nvSpPr>
        <p:spPr>
          <a:xfrm>
            <a:off x="4690872" y="3611880"/>
            <a:ext cx="3995928" cy="1005840"/>
          </a:xfrm>
          <a:prstGeom prst="roundRect">
            <a:avLst>
              <a:gd name="adj" fmla="val 7273"/>
            </a:avLst>
          </a:prstGeom>
          <a:solidFill>
            <a:schemeClr val="tx1"/>
          </a:solidFill>
          <a:ln/>
        </p:spPr>
      </p:sp>
      <p:sp>
        <p:nvSpPr>
          <p:cNvPr id="42" name="Text 40"/>
          <p:cNvSpPr txBox="1"/>
          <p:nvPr/>
        </p:nvSpPr>
        <p:spPr>
          <a:xfrm>
            <a:off x="4873752" y="3703320"/>
            <a:ext cx="36576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LOOP 2 · EVIDENCE RETRY</a:t>
            </a:r>
            <a:endParaRPr lang="en-US" sz="1100" dirty="0"/>
          </a:p>
        </p:txBody>
      </p:sp>
      <p:sp>
        <p:nvSpPr>
          <p:cNvPr id="43" name="Text 41"/>
          <p:cNvSpPr txBox="1"/>
          <p:nvPr/>
        </p:nvSpPr>
        <p:spPr>
          <a:xfrm>
            <a:off x="4873752" y="3950208"/>
            <a:ext cx="3657600" cy="594360"/>
          </a:xfrm>
          <a:prstGeom prst="rect">
            <a:avLst/>
          </a:prstGeom>
          <a:noFill/>
          <a:ln/>
        </p:spPr>
        <p:txBody>
          <a:bodyPr wrap="square" lIns="0" tIns="0" rIns="0" bIns="0" rtlCol="0" anchor="t"/>
          <a:lstStyle/>
          <a:p>
            <a:pPr indent="0" marL="0">
              <a:buNone/>
            </a:pPr>
            <a:r>
              <a:rPr lang="en-US" sz="1200" dirty="0">
                <a:solidFill>
                  <a:schemeClr val="bg1"/>
                </a:solidFill>
              </a:rPr>
              <a:t>No evidence on pass 1 → re-query with ticker, company and filing keywords added. Maximum 2 passes.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Models and knowledge base behind the verdicts</a:t>
            </a:r>
            <a:endParaRPr lang="en-US" sz="2800" dirty="0"/>
          </a:p>
        </p:txBody>
      </p:sp>
      <p:graphicFrame>
        <p:nvGraphicFramePr>
          <p:cNvPr id="6" name="Models table"/>
          <p:cNvGraphicFramePr>
            <a:graphicFrameLocks noGrp="1"/>
          </p:cNvGraphicFramePr>
          <p:nvPr>
            <p:extLst>
              <p:ext uri="{D42A27DB-BD31-4B8C-83A1-F6EECF244321}">
                <p14:modId xmlns:p14="http://schemas.microsoft.com/office/powerpoint/2010/main" val="1579011935"/>
              </p:ext>
            </p:extLst>
          </p:nvPr>
        </p:nvGraphicFramePr>
        <p:xfrm>
          <a:off x="457200" y="1097280"/>
          <a:ext cx="5166360" cy="914400"/>
        </p:xfrm>
        <a:graphic>
          <a:graphicData uri="http://schemas.openxmlformats.org/drawingml/2006/table">
            <a:tbl>
              <a:tblPr/>
              <a:tblGrid>
                <a:gridCol w="1234440"/>
                <a:gridCol w="3931920"/>
              </a:tblGrid>
              <a:tr h="320040">
                <a:tc>
                  <a:txBody>
                    <a:bodyPr/>
                    <a:lstStyle/>
                    <a:p>
                      <a:pPr indent="0" marL="0">
                        <a:buNone/>
                      </a:pPr>
                      <a:r>
                        <a:rPr lang="en-US" sz="1200" b="1" dirty="0">
                          <a:solidFill>
                            <a:schemeClr val="bg1"/>
                          </a:solidFill>
                        </a:rPr>
                        <a:t>Component</a:t>
                      </a:r>
                      <a:endParaRPr lang="en-US" sz="1200" dirty="0"/>
                    </a:p>
                  </a:txBody>
                  <a:tcPr marL="91440" marR="91440" marT="36576" marB="36576">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Model / method</a:t>
                      </a:r>
                      <a:endParaRPr lang="en-US" sz="1200" dirty="0"/>
                    </a:p>
                  </a:txBody>
                  <a:tcPr marL="91440" marR="91440" marT="36576" marB="36576">
                    <a:lnL w="0" cap="flat" cmpd="sng" algn="ctr">
                      <a:noFill/>
                    </a:lnL>
                    <a:lnR w="0" cap="flat" cmpd="sng" algn="ctr">
                      <a:noFill/>
                    </a:lnR>
                    <a:lnT w="0" cap="flat" cmpd="sng" algn="ctr">
                      <a:noFill/>
                    </a:lnT>
                    <a:lnB w="0" cap="flat" cmpd="sng" algn="ctr">
                      <a:noFill/>
                    </a:lnB>
                    <a:solidFill>
                      <a:schemeClr val="tx1"/>
                    </a:solidFill>
                  </a:tcPr>
                </a:tc>
              </a:tr>
              <a:tr h="731520">
                <a:tc>
                  <a:txBody>
                    <a:bodyPr/>
                    <a:lstStyle/>
                    <a:p>
                      <a:pPr indent="0" marL="0">
                        <a:buNone/>
                      </a:pPr>
                      <a:r>
                        <a:rPr lang="en-US" sz="1200" b="1" dirty="0">
                          <a:solidFill>
                            <a:schemeClr val="tx1"/>
                          </a:solidFill>
                        </a:rPr>
                        <a:t>Embeddings</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Custom deterministic hash-projection, 384-d, unit-normalised; word + character-trigram + entity boost; English and Tamil</a:t>
                      </a:r>
                      <a:endParaRPr lang="en-US" sz="11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200" b="1" dirty="0">
                          <a:solidFill>
                            <a:schemeClr val="tx1"/>
                          </a:solidFill>
                        </a:rPr>
                        <a:t>Retrieval</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Cosine similarity on Qdrant with payload filters and score thresholds</a:t>
                      </a:r>
                      <a:endParaRPr lang="en-US" sz="11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200" b="1" dirty="0">
                          <a:solidFill>
                            <a:schemeClr val="tx1"/>
                          </a:solidFill>
                        </a:rPr>
                        <a:t>Credibility</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Bayesian smoothing (accurate + 1) / (claims + 2); unknown source defaults to 0.35</a:t>
                      </a:r>
                      <a:endParaRPr lang="en-US" sz="11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200" b="1" dirty="0">
                          <a:solidFill>
                            <a:schemeClr val="tx1"/>
                          </a:solidFill>
                        </a:rPr>
                        <a:t>Verdict engine</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Rule-based decision matrix → 6 verdict classes with confidence</a:t>
                      </a:r>
                      <a:endParaRPr lang="en-US" sz="11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00" b="1" dirty="0">
                          <a:solidFill>
                            <a:schemeClr val="tx1"/>
                          </a:solidFill>
                        </a:rPr>
                        <a:t>LLM layer</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gpt-4o-mini and text-embedding-3-small configured as pluggable upgrade; offline mode is default</a:t>
                      </a:r>
                      <a:endParaRPr lang="en-US" sz="11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897880" y="1097280"/>
            <a:ext cx="2788920" cy="274320"/>
          </a:xfrm>
          <a:prstGeom prst="rect">
            <a:avLst/>
          </a:prstGeom>
          <a:noFill/>
          <a:ln/>
        </p:spPr>
        <p:txBody>
          <a:bodyPr wrap="square" lIns="0" tIns="0" rIns="0" bIns="0" rtlCol="0" anchor="ctr"/>
          <a:lstStyle/>
          <a:p>
            <a:pPr indent="0" marL="0">
              <a:buNone/>
            </a:pPr>
            <a:r>
              <a:rPr lang="en-US" sz="1400" b="1" dirty="0">
                <a:solidFill>
                  <a:schemeClr val="tx1"/>
                </a:solidFill>
              </a:rPr>
              <a:t>3 isolated Qdrant stores</a:t>
            </a:r>
            <a:endParaRPr lang="en-US" sz="1400" dirty="0"/>
          </a:p>
        </p:txBody>
      </p:sp>
      <p:sp>
        <p:nvSpPr>
          <p:cNvPr id="5" name="Store card trust_tier_store"/>
          <p:cNvSpPr/>
          <p:nvPr/>
        </p:nvSpPr>
        <p:spPr>
          <a:xfrm>
            <a:off x="5897880" y="1481328"/>
            <a:ext cx="2788920" cy="914400"/>
          </a:xfrm>
          <a:prstGeom prst="roundRect">
            <a:avLst>
              <a:gd name="adj" fmla="val 8000"/>
            </a:avLst>
          </a:prstGeom>
          <a:solidFill>
            <a:schemeClr val="tx1"/>
          </a:solidFill>
          <a:ln/>
        </p:spPr>
      </p:sp>
      <p:sp>
        <p:nvSpPr>
          <p:cNvPr id="6" name="Text 3"/>
          <p:cNvSpPr txBox="1"/>
          <p:nvPr/>
        </p:nvSpPr>
        <p:spPr>
          <a:xfrm>
            <a:off x="5989320" y="1481328"/>
            <a:ext cx="777240" cy="914400"/>
          </a:xfrm>
          <a:prstGeom prst="rect">
            <a:avLst/>
          </a:prstGeom>
          <a:noFill/>
          <a:ln/>
        </p:spPr>
        <p:txBody>
          <a:bodyPr wrap="square" lIns="0" tIns="0" rIns="0" bIns="0" rtlCol="0" anchor="ctr"/>
          <a:lstStyle/>
          <a:p>
            <a:pPr algn="ctr" indent="0" marL="0">
              <a:buNone/>
            </a:pPr>
            <a:r>
              <a:rPr lang="en-US" sz="3200" b="1" dirty="0">
                <a:solidFill>
                  <a:schemeClr val="accent1"/>
                </a:solidFill>
              </a:rPr>
              <a:t>22</a:t>
            </a:r>
            <a:endParaRPr lang="en-US" sz="3200" dirty="0"/>
          </a:p>
        </p:txBody>
      </p:sp>
      <p:sp>
        <p:nvSpPr>
          <p:cNvPr id="7" name="Text 4"/>
          <p:cNvSpPr txBox="1"/>
          <p:nvPr/>
        </p:nvSpPr>
        <p:spPr>
          <a:xfrm>
            <a:off x="6812280" y="1664208"/>
            <a:ext cx="1828800" cy="274320"/>
          </a:xfrm>
          <a:prstGeom prst="rect">
            <a:avLst/>
          </a:prstGeom>
          <a:noFill/>
          <a:ln/>
        </p:spPr>
        <p:txBody>
          <a:bodyPr wrap="square" lIns="0" tIns="0" rIns="0" bIns="0" rtlCol="0" anchor="ctr"/>
          <a:lstStyle/>
          <a:p>
            <a:pPr indent="0" marL="0">
              <a:buNone/>
            </a:pPr>
            <a:r>
              <a:rPr lang="en-US" sz="1300" b="1" dirty="0">
                <a:solidFill>
                  <a:schemeClr val="bg1"/>
                </a:solidFill>
              </a:rPr>
              <a:t>trust_tier_store</a:t>
            </a:r>
            <a:endParaRPr lang="en-US" sz="1300" dirty="0"/>
          </a:p>
        </p:txBody>
      </p:sp>
      <p:sp>
        <p:nvSpPr>
          <p:cNvPr id="8" name="Text 5"/>
          <p:cNvSpPr txBox="1"/>
          <p:nvPr/>
        </p:nvSpPr>
        <p:spPr>
          <a:xfrm>
            <a:off x="6812280" y="1956816"/>
            <a:ext cx="1828800" cy="274320"/>
          </a:xfrm>
          <a:prstGeom prst="rect">
            <a:avLst/>
          </a:prstGeom>
          <a:noFill/>
          <a:ln/>
        </p:spPr>
        <p:txBody>
          <a:bodyPr wrap="square" lIns="0" tIns="0" rIns="0" bIns="0" rtlCol="0" anchor="ctr"/>
          <a:lstStyle/>
          <a:p>
            <a:pPr indent="0" marL="0">
              <a:buNone/>
            </a:pPr>
            <a:r>
              <a:rPr lang="en-US" sz="1100" dirty="0">
                <a:solidFill>
                  <a:schemeClr val="accent6"/>
                </a:solidFill>
              </a:rPr>
              <a:t>Source track records</a:t>
            </a:r>
            <a:endParaRPr lang="en-US" sz="1100" dirty="0"/>
          </a:p>
        </p:txBody>
      </p:sp>
      <p:sp>
        <p:nvSpPr>
          <p:cNvPr id="9" name="Store card filing_store"/>
          <p:cNvSpPr/>
          <p:nvPr/>
        </p:nvSpPr>
        <p:spPr>
          <a:xfrm>
            <a:off x="5897880" y="2505456"/>
            <a:ext cx="2788920" cy="914400"/>
          </a:xfrm>
          <a:prstGeom prst="roundRect">
            <a:avLst>
              <a:gd name="adj" fmla="val 8000"/>
            </a:avLst>
          </a:prstGeom>
          <a:solidFill>
            <a:schemeClr val="tx1"/>
          </a:solidFill>
          <a:ln/>
        </p:spPr>
      </p:sp>
      <p:sp>
        <p:nvSpPr>
          <p:cNvPr id="10" name="Text 7"/>
          <p:cNvSpPr txBox="1"/>
          <p:nvPr/>
        </p:nvSpPr>
        <p:spPr>
          <a:xfrm>
            <a:off x="5989320" y="2505456"/>
            <a:ext cx="777240" cy="914400"/>
          </a:xfrm>
          <a:prstGeom prst="rect">
            <a:avLst/>
          </a:prstGeom>
          <a:noFill/>
          <a:ln/>
        </p:spPr>
        <p:txBody>
          <a:bodyPr wrap="square" lIns="0" tIns="0" rIns="0" bIns="0" rtlCol="0" anchor="ctr"/>
          <a:lstStyle/>
          <a:p>
            <a:pPr algn="ctr" indent="0" marL="0">
              <a:buNone/>
            </a:pPr>
            <a:r>
              <a:rPr lang="en-US" sz="3200" b="1" dirty="0">
                <a:solidFill>
                  <a:schemeClr val="accent1"/>
                </a:solidFill>
              </a:rPr>
              <a:t>18</a:t>
            </a:r>
            <a:endParaRPr lang="en-US" sz="3200" dirty="0"/>
          </a:p>
        </p:txBody>
      </p:sp>
      <p:sp>
        <p:nvSpPr>
          <p:cNvPr id="11" name="Text 8"/>
          <p:cNvSpPr txBox="1"/>
          <p:nvPr/>
        </p:nvSpPr>
        <p:spPr>
          <a:xfrm>
            <a:off x="6812280" y="2688336"/>
            <a:ext cx="1828800" cy="274320"/>
          </a:xfrm>
          <a:prstGeom prst="rect">
            <a:avLst/>
          </a:prstGeom>
          <a:noFill/>
          <a:ln/>
        </p:spPr>
        <p:txBody>
          <a:bodyPr wrap="square" lIns="0" tIns="0" rIns="0" bIns="0" rtlCol="0" anchor="ctr"/>
          <a:lstStyle/>
          <a:p>
            <a:pPr indent="0" marL="0">
              <a:buNone/>
            </a:pPr>
            <a:r>
              <a:rPr lang="en-US" sz="1300" b="1" dirty="0">
                <a:solidFill>
                  <a:schemeClr val="bg1"/>
                </a:solidFill>
              </a:rPr>
              <a:t>filing_store</a:t>
            </a:r>
            <a:endParaRPr lang="en-US" sz="1300" dirty="0"/>
          </a:p>
        </p:txBody>
      </p:sp>
      <p:sp>
        <p:nvSpPr>
          <p:cNvPr id="12" name="Text 9"/>
          <p:cNvSpPr txBox="1"/>
          <p:nvPr/>
        </p:nvSpPr>
        <p:spPr>
          <a:xfrm>
            <a:off x="6812280" y="2980944"/>
            <a:ext cx="1828800" cy="274320"/>
          </a:xfrm>
          <a:prstGeom prst="rect">
            <a:avLst/>
          </a:prstGeom>
          <a:noFill/>
          <a:ln/>
        </p:spPr>
        <p:txBody>
          <a:bodyPr wrap="square" lIns="0" tIns="0" rIns="0" bIns="0" rtlCol="0" anchor="ctr"/>
          <a:lstStyle/>
          <a:p>
            <a:pPr indent="0" marL="0">
              <a:buNone/>
            </a:pPr>
            <a:r>
              <a:rPr lang="en-US" sz="1100" dirty="0">
                <a:solidFill>
                  <a:schemeClr val="accent6"/>
                </a:solidFill>
              </a:rPr>
              <a:t>SEBI Reg 30 / BSE filings</a:t>
            </a:r>
            <a:endParaRPr lang="en-US" sz="1100" dirty="0"/>
          </a:p>
        </p:txBody>
      </p:sp>
      <p:sp>
        <p:nvSpPr>
          <p:cNvPr id="13" name="Store card sentiment_corpus"/>
          <p:cNvSpPr/>
          <p:nvPr/>
        </p:nvSpPr>
        <p:spPr>
          <a:xfrm>
            <a:off x="5897880" y="3529584"/>
            <a:ext cx="2788920" cy="914400"/>
          </a:xfrm>
          <a:prstGeom prst="roundRect">
            <a:avLst>
              <a:gd name="adj" fmla="val 8000"/>
            </a:avLst>
          </a:prstGeom>
          <a:solidFill>
            <a:schemeClr val="tx1"/>
          </a:solidFill>
          <a:ln/>
        </p:spPr>
      </p:sp>
      <p:sp>
        <p:nvSpPr>
          <p:cNvPr id="14" name="Text 11"/>
          <p:cNvSpPr txBox="1"/>
          <p:nvPr/>
        </p:nvSpPr>
        <p:spPr>
          <a:xfrm>
            <a:off x="5989320" y="3529584"/>
            <a:ext cx="777240" cy="914400"/>
          </a:xfrm>
          <a:prstGeom prst="rect">
            <a:avLst/>
          </a:prstGeom>
          <a:noFill/>
          <a:ln/>
        </p:spPr>
        <p:txBody>
          <a:bodyPr wrap="square" lIns="0" tIns="0" rIns="0" bIns="0" rtlCol="0" anchor="ctr"/>
          <a:lstStyle/>
          <a:p>
            <a:pPr algn="ctr" indent="0" marL="0">
              <a:buNone/>
            </a:pPr>
            <a:r>
              <a:rPr lang="en-US" sz="3200" b="1" dirty="0">
                <a:solidFill>
                  <a:schemeClr val="accent1"/>
                </a:solidFill>
              </a:rPr>
              <a:t>15</a:t>
            </a:r>
            <a:endParaRPr lang="en-US" sz="3200" dirty="0"/>
          </a:p>
        </p:txBody>
      </p:sp>
      <p:sp>
        <p:nvSpPr>
          <p:cNvPr id="15" name="Text 12"/>
          <p:cNvSpPr txBox="1"/>
          <p:nvPr/>
        </p:nvSpPr>
        <p:spPr>
          <a:xfrm>
            <a:off x="6812280" y="3712464"/>
            <a:ext cx="1828800" cy="274320"/>
          </a:xfrm>
          <a:prstGeom prst="rect">
            <a:avLst/>
          </a:prstGeom>
          <a:noFill/>
          <a:ln/>
        </p:spPr>
        <p:txBody>
          <a:bodyPr wrap="square" lIns="0" tIns="0" rIns="0" bIns="0" rtlCol="0" anchor="ctr"/>
          <a:lstStyle/>
          <a:p>
            <a:pPr indent="0" marL="0">
              <a:buNone/>
            </a:pPr>
            <a:r>
              <a:rPr lang="en-US" sz="1300" b="1" dirty="0">
                <a:solidFill>
                  <a:schemeClr val="bg1"/>
                </a:solidFill>
              </a:rPr>
              <a:t>sentiment_corpus</a:t>
            </a:r>
            <a:endParaRPr lang="en-US" sz="1300" dirty="0"/>
          </a:p>
        </p:txBody>
      </p:sp>
      <p:sp>
        <p:nvSpPr>
          <p:cNvPr id="16" name="Text 13"/>
          <p:cNvSpPr txBox="1"/>
          <p:nvPr/>
        </p:nvSpPr>
        <p:spPr>
          <a:xfrm>
            <a:off x="6812280" y="4005072"/>
            <a:ext cx="1828800" cy="274320"/>
          </a:xfrm>
          <a:prstGeom prst="rect">
            <a:avLst/>
          </a:prstGeom>
          <a:noFill/>
          <a:ln/>
        </p:spPr>
        <p:txBody>
          <a:bodyPr wrap="square" lIns="0" tIns="0" rIns="0" bIns="0" rtlCol="0" anchor="ctr"/>
          <a:lstStyle/>
          <a:p>
            <a:pPr indent="0" marL="0">
              <a:buNone/>
            </a:pPr>
            <a:r>
              <a:rPr lang="en-US" sz="1100" dirty="0">
                <a:solidFill>
                  <a:schemeClr val="accent6"/>
                </a:solidFill>
              </a:rPr>
              <a:t>EN/TA tone + lead-lag</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960120"/>
            <a:ext cx="5029200" cy="868680"/>
          </a:xfrm>
          <a:prstGeom prst="rect">
            <a:avLst/>
          </a:prstGeom>
          <a:noFill/>
          <a:ln/>
        </p:spPr>
        <p:txBody>
          <a:bodyPr wrap="square" lIns="0" tIns="0" rIns="0" bIns="0" rtlCol="0" anchor="ctr"/>
          <a:lstStyle/>
          <a:p>
            <a:pPr algn="l" indent="0" marL="0">
              <a:buNone/>
            </a:pPr>
            <a:r>
              <a:rPr lang="en-US" sz="4800" b="1" dirty="0">
                <a:solidFill>
                  <a:schemeClr val="bg1"/>
                </a:solidFill>
              </a:rPr>
              <a:t>Thank you</a:t>
            </a:r>
            <a:endParaRPr lang="en-US" sz="4800" dirty="0"/>
          </a:p>
        </p:txBody>
      </p:sp>
      <p:sp>
        <p:nvSpPr>
          <p:cNvPr id="3" name="Text 1"/>
          <p:cNvSpPr/>
          <p:nvPr>
            <p:ph idx="102" type="body" hasCustomPrompt="1"/>
          </p:nvPr>
        </p:nvSpPr>
        <p:spPr>
          <a:xfrm>
            <a:off x="548640" y="1874520"/>
            <a:ext cx="4754880" cy="914400"/>
          </a:xfrm>
          <a:prstGeom prst="rect">
            <a:avLst/>
          </a:prstGeom>
          <a:noFill/>
          <a:ln/>
        </p:spPr>
        <p:txBody>
          <a:bodyPr wrap="square" lIns="0" tIns="0" rIns="0" bIns="0" rtlCol="0" anchor="t"/>
          <a:lstStyle/>
          <a:p>
            <a:pPr indent="0" marL="0">
              <a:buNone/>
            </a:pPr>
            <a:r>
              <a:rPr lang="en-US" sz="1800" dirty="0">
                <a:solidFill>
                  <a:schemeClr val="bg1"/>
                </a:solidFill>
              </a:rPr>
              <a:t>Questions and discussion</a:t>
            </a:r>
            <a:endParaRPr lang="en-US" sz="1800" dirty="0"/>
          </a:p>
        </p:txBody>
      </p:sp>
      <p:sp>
        <p:nvSpPr>
          <p:cNvPr id="4" name="Text 2"/>
          <p:cNvSpPr txBox="1"/>
          <p:nvPr/>
        </p:nvSpPr>
        <p:spPr>
          <a:xfrm>
            <a:off x="548640" y="2926080"/>
            <a:ext cx="7315200" cy="365760"/>
          </a:xfrm>
          <a:prstGeom prst="rect">
            <a:avLst/>
          </a:prstGeom>
          <a:noFill/>
          <a:ln/>
        </p:spPr>
        <p:txBody>
          <a:bodyPr wrap="square" lIns="0" tIns="0" rIns="0" bIns="0" rtlCol="0" anchor="ctr"/>
          <a:lstStyle/>
          <a:p>
            <a:pPr indent="0" marL="0">
              <a:buNone/>
            </a:pPr>
            <a:r>
              <a:rPr lang="en-US" sz="1600" dirty="0">
                <a:solidFill>
                  <a:schemeClr val="accent1"/>
                </a:solidFill>
              </a:rPr>
              <a:t>Verified rumours. Cited evidence. Auditable verdicts.</a:t>
            </a:r>
            <a:endParaRPr lang="en-US" sz="1600" dirty="0"/>
          </a:p>
        </p:txBody>
      </p:sp>
    </p:spTree>
  </p:cSld>
  <p:clrMapOvr>
    <a:masterClrMapping/>
  </p:clrMapOvr>
</p:sld>
</file>

<file path=ppt/theme/theme1.xml><?xml version="1.0" encoding="utf-8"?>
<a:theme xmlns:a="http://schemas.openxmlformats.org/drawingml/2006/main" name="MarketVerify Enterprise">
  <a:themeElements>
    <a:clrScheme name="MarketVerify Enterprise">
      <a:dk1>
        <a:srgbClr val="0B1F3A"/>
      </a:dk1>
      <a:lt1>
        <a:srgbClr val="FFFFFF"/>
      </a:lt1>
      <a:dk2>
        <a:srgbClr val="1B365D"/>
      </a:dk2>
      <a:lt2>
        <a:srgbClr val="F2F5FA"/>
      </a:lt2>
      <a:accent1>
        <a:srgbClr val="F2A900"/>
      </a:accent1>
      <a:accent2>
        <a:srgbClr val="0FA3A3"/>
      </a:accent2>
      <a:accent3>
        <a:srgbClr val="3B6FD4"/>
      </a:accent3>
      <a:accent4>
        <a:srgbClr val="D64550"/>
      </a:accent4>
      <a:accent5>
        <a:srgbClr val="2E9E6B"/>
      </a:accent5>
      <a:accent6>
        <a:srgbClr val="8FA0BA"/>
      </a:accent6>
      <a:hlink>
        <a:srgbClr val="3B6FD4"/>
      </a:hlink>
      <a:folHlink>
        <a:srgbClr val="7A8BA6"/>
      </a:folHlink>
    </a:clrScheme>
    <a:fontScheme name="MarketVerify Enterpri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MarketVerify – Final Year Project</dc:title>
  <dc:subject>PptxGenJS Presentation</dc:subject>
  <dc:creator>Anusree Thanapal</dc:creator>
  <cp:lastModifiedBy>Anusree Thanapal</cp:lastModifiedBy>
  <cp:revision>1</cp:revision>
  <dcterms:created xsi:type="dcterms:W3CDTF">2026-10-07T17:44:09Z</dcterms:created>
  <dcterms:modified xsi:type="dcterms:W3CDTF">2026-10-07T17:44:09Z</dcterms:modified>
</cp:coreProperties>
</file>